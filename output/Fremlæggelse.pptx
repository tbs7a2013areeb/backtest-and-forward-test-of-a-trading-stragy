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19"/>
    <p:restoredTop sz="94682"/>
  </p:normalViewPr>
  <p:slideViewPr>
    <p:cSldViewPr snapToGrid="0">
      <p:cViewPr varScale="1">
        <p:scale>
          <a:sx n="127" d="100"/>
          <a:sy n="127" d="100"/>
        </p:scale>
        <p:origin x="55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D2690692-026D-9BF1-AF0C-D35880DE658C}"/>
              </a:ext>
            </a:extLst>
          </p:cNvPr>
          <p:cNvSpPr>
            <a:spLocks noGrp="1" noRot="1" noMove="1" noResize="1" noEditPoints="1" noAdjustHandles="1" noChangeArrowheads="1" noChangeShapeType="1"/>
          </p:cNvSpPr>
          <p:nvPr/>
        </p:nvSpPr>
        <p:spPr>
          <a:xfrm>
            <a:off x="0" y="133350"/>
            <a:ext cx="12192000" cy="6724650"/>
          </a:xfrm>
          <a:prstGeom prst="rect">
            <a:avLst/>
          </a:prstGeom>
          <a:solidFill>
            <a:srgbClr val="F7F5F0"/>
          </a:solidFill>
          <a:ln w="0">
            <a:solidFill>
              <a:srgbClr val="000000">
                <a:alpha val="0"/>
              </a:srgbClr>
            </a:solidFill>
            <a:prstDash val="solid"/>
          </a:ln>
        </p:spPr>
        <p:txBody>
          <a:bodyPr/>
          <a:lstStyle/>
          <a:p>
            <a:endParaRPr/>
          </a:p>
        </p:txBody>
      </p:sp>
      <p:sp>
        <p:nvSpPr>
          <p:cNvPr id="2" name="Rektangel 1">
            <a:extLst>
              <a:ext uri="{FF2B5EF4-FFF2-40B4-BE49-F238E27FC236}">
                <a16:creationId xmlns:a16="http://schemas.microsoft.com/office/drawing/2014/main" id="{808EAAEF-DB54-411C-BE0A-3BE64C2EC746}"/>
              </a:ext>
            </a:extLst>
          </p:cNvPr>
          <p:cNvSpPr>
            <a:spLocks noGrp="1"/>
          </p:cNvSpPr>
          <p:nvPr/>
        </p:nvSpPr>
        <p:spPr>
          <a:xfrm>
            <a:off x="0" y="0"/>
            <a:ext cx="12192000" cy="990600"/>
          </a:xfrm>
          <a:prstGeom prst="rect">
            <a:avLst/>
          </a:prstGeom>
          <a:solidFill>
            <a:srgbClr val="14213D"/>
          </a:solidFill>
          <a:ln w="0">
            <a:solidFill>
              <a:srgbClr val="000000">
                <a:alpha val="0"/>
              </a:srgbClr>
            </a:solidFill>
            <a:prstDash val="solid"/>
          </a:ln>
        </p:spPr>
        <p:txBody>
          <a:bodyPr/>
          <a:lstStyle/>
          <a:p>
            <a:endParaRPr/>
          </a:p>
        </p:txBody>
      </p:sp>
      <p:sp>
        <p:nvSpPr>
          <p:cNvPr id="3" name="Rektangel 2">
            <a:extLst>
              <a:ext uri="{FF2B5EF4-FFF2-40B4-BE49-F238E27FC236}">
                <a16:creationId xmlns:a16="http://schemas.microsoft.com/office/drawing/2014/main" id="{DB602712-D9D3-4A55-BBD5-896A5ECFC67C}"/>
              </a:ext>
            </a:extLst>
          </p:cNvPr>
          <p:cNvSpPr>
            <a:spLocks noGrp="1"/>
          </p:cNvSpPr>
          <p:nvPr/>
        </p:nvSpPr>
        <p:spPr>
          <a:xfrm>
            <a:off x="400050" y="133350"/>
            <a:ext cx="2095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7C0D4"/>
                </a:solidFill>
                <a:latin typeface="Aptos"/>
                <a:ea typeface="Aptos"/>
                <a:cs typeface="Aptos"/>
              </a:defRPr>
            </a:pPr>
            <a:r>
              <a:rPr sz="900" b="1">
                <a:solidFill>
                  <a:srgbClr val="B7C0D4"/>
                </a:solidFill>
                <a:latin typeface="Aptos"/>
                <a:ea typeface="Aptos"/>
                <a:cs typeface="Aptos"/>
              </a:rPr>
              <a:t>INTRODUKTION</a:t>
            </a:r>
          </a:p>
        </p:txBody>
      </p:sp>
      <p:sp>
        <p:nvSpPr>
          <p:cNvPr id="4" name="Rektangel 3">
            <a:extLst>
              <a:ext uri="{FF2B5EF4-FFF2-40B4-BE49-F238E27FC236}">
                <a16:creationId xmlns:a16="http://schemas.microsoft.com/office/drawing/2014/main" id="{E6182633-6960-4C6C-845B-CD15B6EA45AA}"/>
              </a:ext>
            </a:extLst>
          </p:cNvPr>
          <p:cNvSpPr>
            <a:spLocks noGrp="1"/>
          </p:cNvSpPr>
          <p:nvPr/>
        </p:nvSpPr>
        <p:spPr>
          <a:xfrm>
            <a:off x="400050" y="419100"/>
            <a:ext cx="7810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FFFFFF"/>
                </a:solidFill>
                <a:latin typeface="Aptos"/>
                <a:ea typeface="Aptos"/>
                <a:cs typeface="Aptos"/>
              </a:defRPr>
            </a:pPr>
            <a:r>
              <a:rPr sz="2100" b="1">
                <a:solidFill>
                  <a:srgbClr val="FFFFFF"/>
                </a:solidFill>
                <a:latin typeface="Aptos"/>
                <a:ea typeface="Aptos"/>
                <a:cs typeface="Aptos"/>
              </a:rPr>
              <a:t>AAPL tradingstrategi</a:t>
            </a:r>
          </a:p>
        </p:txBody>
      </p:sp>
      <p:sp>
        <p:nvSpPr>
          <p:cNvPr id="6" name="Rektangel 5">
            <a:extLst>
              <a:ext uri="{FF2B5EF4-FFF2-40B4-BE49-F238E27FC236}">
                <a16:creationId xmlns:a16="http://schemas.microsoft.com/office/drawing/2014/main" id="{747321C3-CD17-401A-B225-87157623FE88}"/>
              </a:ext>
            </a:extLst>
          </p:cNvPr>
          <p:cNvSpPr>
            <a:spLocks noGrp="1"/>
          </p:cNvSpPr>
          <p:nvPr/>
        </p:nvSpPr>
        <p:spPr>
          <a:xfrm>
            <a:off x="400050" y="1276350"/>
            <a:ext cx="5715000" cy="933450"/>
          </a:xfrm>
          <a:prstGeom prst="rect">
            <a:avLst/>
          </a:prstGeom>
          <a:solidFill>
            <a:srgbClr val="000000">
              <a:alpha val="0"/>
            </a:srgbClr>
          </a:solidFill>
          <a:ln w="0">
            <a:solidFill>
              <a:srgbClr val="000000">
                <a:alpha val="0"/>
              </a:srgbClr>
            </a:solidFill>
            <a:prstDash val="solid"/>
          </a:ln>
        </p:spPr>
        <p:txBody>
          <a:bodyPr lIns="0" tIns="0" rIns="0" bIns="0" anchor="t"/>
          <a:lstStyle/>
          <a:p>
            <a:pPr>
              <a:buNone/>
              <a:defRPr sz="1800" b="1">
                <a:solidFill>
                  <a:srgbClr val="17233D"/>
                </a:solidFill>
                <a:latin typeface="Aptos"/>
                <a:ea typeface="Aptos"/>
                <a:cs typeface="Aptos"/>
              </a:defRPr>
            </a:pPr>
            <a:r>
              <a:rPr sz="1800" b="1">
                <a:solidFill>
                  <a:srgbClr val="17233D"/>
                </a:solidFill>
                <a:latin typeface="Aptos"/>
                <a:ea typeface="Aptos"/>
                <a:cs typeface="Aptos"/>
              </a:rPr>
              <a:t>Mål: </a:t>
            </a:r>
            <a:r>
              <a:t>At teste en 200 dages SMA trading strategi på AAPL og vurdere dens historiske performance og robusthed gennem backtest og walk forward test.</a:t>
            </a:r>
          </a:p>
        </p:txBody>
      </p:sp>
      <p:sp>
        <p:nvSpPr>
          <p:cNvPr id="15" name="Rektangel 14">
            <a:extLst>
              <a:ext uri="{FF2B5EF4-FFF2-40B4-BE49-F238E27FC236}">
                <a16:creationId xmlns:a16="http://schemas.microsoft.com/office/drawing/2014/main" id="{6D5755B6-C5B9-48D7-8255-A97BDFDEAD71}"/>
              </a:ext>
            </a:extLst>
          </p:cNvPr>
          <p:cNvSpPr>
            <a:spLocks noGrp="1"/>
          </p:cNvSpPr>
          <p:nvPr/>
        </p:nvSpPr>
        <p:spPr>
          <a:xfrm>
            <a:off x="7239000" y="1257300"/>
            <a:ext cx="1762125" cy="876300"/>
          </a:xfrm>
          <a:prstGeom prst="rect">
            <a:avLst/>
          </a:prstGeom>
          <a:solidFill>
            <a:srgbClr val="FFFFFF"/>
          </a:solidFill>
          <a:ln w="9525">
            <a:solidFill>
              <a:srgbClr val="D8DEE8"/>
            </a:solidFill>
            <a:prstDash val="solid"/>
          </a:ln>
        </p:spPr>
        <p:txBody>
          <a:bodyPr/>
          <a:lstStyle/>
          <a:p>
            <a:endParaRPr/>
          </a:p>
        </p:txBody>
      </p:sp>
      <p:sp>
        <p:nvSpPr>
          <p:cNvPr id="16" name="Rektangel 15">
            <a:extLst>
              <a:ext uri="{FF2B5EF4-FFF2-40B4-BE49-F238E27FC236}">
                <a16:creationId xmlns:a16="http://schemas.microsoft.com/office/drawing/2014/main" id="{27167EAA-8767-4EAE-9299-DD3FC8B201AB}"/>
              </a:ext>
            </a:extLst>
          </p:cNvPr>
          <p:cNvSpPr>
            <a:spLocks noGrp="1"/>
          </p:cNvSpPr>
          <p:nvPr/>
        </p:nvSpPr>
        <p:spPr>
          <a:xfrm>
            <a:off x="7391400" y="1428750"/>
            <a:ext cx="1457325"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17233D"/>
                </a:solidFill>
                <a:latin typeface="Aptos"/>
                <a:ea typeface="Aptos"/>
                <a:cs typeface="Aptos"/>
              </a:defRPr>
            </a:pPr>
            <a:r>
              <a:rPr sz="1800" b="1">
                <a:solidFill>
                  <a:srgbClr val="17233D"/>
                </a:solidFill>
                <a:latin typeface="Aptos"/>
                <a:ea typeface="Aptos"/>
                <a:cs typeface="Aptos"/>
              </a:rPr>
              <a:t>AAPL</a:t>
            </a:r>
          </a:p>
        </p:txBody>
      </p:sp>
      <p:sp>
        <p:nvSpPr>
          <p:cNvPr id="17" name="Rektangel 16">
            <a:extLst>
              <a:ext uri="{FF2B5EF4-FFF2-40B4-BE49-F238E27FC236}">
                <a16:creationId xmlns:a16="http://schemas.microsoft.com/office/drawing/2014/main" id="{CD99BDF4-5C62-483D-98EF-F51F6C5050A4}"/>
              </a:ext>
            </a:extLst>
          </p:cNvPr>
          <p:cNvSpPr>
            <a:spLocks noGrp="1"/>
          </p:cNvSpPr>
          <p:nvPr/>
        </p:nvSpPr>
        <p:spPr>
          <a:xfrm>
            <a:off x="7391400" y="1752600"/>
            <a:ext cx="1457325"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64748B"/>
                </a:solidFill>
                <a:latin typeface="Aptos"/>
                <a:ea typeface="Aptos"/>
                <a:cs typeface="Aptos"/>
              </a:defRPr>
            </a:pPr>
            <a:r>
              <a:rPr sz="750">
                <a:solidFill>
                  <a:srgbClr val="64748B"/>
                </a:solidFill>
                <a:latin typeface="Aptos"/>
                <a:ea typeface="Aptos"/>
                <a:cs typeface="Aptos"/>
              </a:rPr>
              <a:t>Aktie</a:t>
            </a:r>
          </a:p>
        </p:txBody>
      </p:sp>
      <p:sp>
        <p:nvSpPr>
          <p:cNvPr id="18" name="Rektangel 17">
            <a:extLst>
              <a:ext uri="{FF2B5EF4-FFF2-40B4-BE49-F238E27FC236}">
                <a16:creationId xmlns:a16="http://schemas.microsoft.com/office/drawing/2014/main" id="{010226E3-87DE-4D8B-9D61-63C400DE703C}"/>
              </a:ext>
            </a:extLst>
          </p:cNvPr>
          <p:cNvSpPr>
            <a:spLocks noGrp="1"/>
          </p:cNvSpPr>
          <p:nvPr/>
        </p:nvSpPr>
        <p:spPr>
          <a:xfrm>
            <a:off x="9258300" y="1257300"/>
            <a:ext cx="1762125" cy="876300"/>
          </a:xfrm>
          <a:prstGeom prst="rect">
            <a:avLst/>
          </a:prstGeom>
          <a:solidFill>
            <a:srgbClr val="FFFFFF"/>
          </a:solidFill>
          <a:ln w="9525">
            <a:solidFill>
              <a:srgbClr val="D8DEE8"/>
            </a:solidFill>
            <a:prstDash val="solid"/>
          </a:ln>
        </p:spPr>
        <p:txBody>
          <a:bodyPr/>
          <a:lstStyle/>
          <a:p>
            <a:endParaRPr/>
          </a:p>
        </p:txBody>
      </p:sp>
      <p:sp>
        <p:nvSpPr>
          <p:cNvPr id="19" name="Rektangel 18">
            <a:extLst>
              <a:ext uri="{FF2B5EF4-FFF2-40B4-BE49-F238E27FC236}">
                <a16:creationId xmlns:a16="http://schemas.microsoft.com/office/drawing/2014/main" id="{500B0448-E044-482D-B480-A51154E9DB41}"/>
              </a:ext>
            </a:extLst>
          </p:cNvPr>
          <p:cNvSpPr>
            <a:spLocks noGrp="1"/>
          </p:cNvSpPr>
          <p:nvPr/>
        </p:nvSpPr>
        <p:spPr>
          <a:xfrm>
            <a:off x="9410700" y="1428750"/>
            <a:ext cx="1457325"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7E57C2"/>
                </a:solidFill>
                <a:latin typeface="Aptos"/>
                <a:ea typeface="Aptos"/>
                <a:cs typeface="Aptos"/>
              </a:defRPr>
            </a:pPr>
            <a:r>
              <a:rPr sz="1800" b="1">
                <a:solidFill>
                  <a:srgbClr val="7E57C2"/>
                </a:solidFill>
                <a:latin typeface="Aptos"/>
                <a:ea typeface="Aptos"/>
                <a:cs typeface="Aptos"/>
              </a:rPr>
              <a:t>12+ år</a:t>
            </a:r>
          </a:p>
        </p:txBody>
      </p:sp>
      <p:sp>
        <p:nvSpPr>
          <p:cNvPr id="20" name="Rektangel 19">
            <a:extLst>
              <a:ext uri="{FF2B5EF4-FFF2-40B4-BE49-F238E27FC236}">
                <a16:creationId xmlns:a16="http://schemas.microsoft.com/office/drawing/2014/main" id="{5AC01BF9-24E9-4077-B1EC-2A2FA0EC7D64}"/>
              </a:ext>
            </a:extLst>
          </p:cNvPr>
          <p:cNvSpPr>
            <a:spLocks noGrp="1"/>
          </p:cNvSpPr>
          <p:nvPr/>
        </p:nvSpPr>
        <p:spPr>
          <a:xfrm>
            <a:off x="9410700" y="1752600"/>
            <a:ext cx="1457325"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64748B"/>
                </a:solidFill>
                <a:latin typeface="Aptos"/>
                <a:ea typeface="Aptos"/>
                <a:cs typeface="Aptos"/>
              </a:defRPr>
            </a:pPr>
            <a:r>
              <a:rPr sz="750" b="0">
                <a:solidFill>
                  <a:srgbClr val="64748B"/>
                </a:solidFill>
                <a:latin typeface="Aptos"/>
                <a:ea typeface="Aptos"/>
                <a:cs typeface="Aptos"/>
              </a:rPr>
              <a:t>Dataperiode hentet fra yfinance (Renset og valideret inden brug)</a:t>
            </a:r>
          </a:p>
        </p:txBody>
      </p:sp>
      <p:sp>
        <p:nvSpPr>
          <p:cNvPr id="21" name="Rektangel 20">
            <a:extLst>
              <a:ext uri="{FF2B5EF4-FFF2-40B4-BE49-F238E27FC236}">
                <a16:creationId xmlns:a16="http://schemas.microsoft.com/office/drawing/2014/main" id="{97F3A696-9CD7-454F-B92F-39313949BD0B}"/>
              </a:ext>
            </a:extLst>
          </p:cNvPr>
          <p:cNvSpPr>
            <a:spLocks noGrp="1"/>
          </p:cNvSpPr>
          <p:nvPr/>
        </p:nvSpPr>
        <p:spPr>
          <a:xfrm>
            <a:off x="7239000" y="2400300"/>
            <a:ext cx="1762125" cy="876300"/>
          </a:xfrm>
          <a:prstGeom prst="rect">
            <a:avLst/>
          </a:prstGeom>
          <a:solidFill>
            <a:srgbClr val="FFFFFF"/>
          </a:solidFill>
          <a:ln w="9525">
            <a:solidFill>
              <a:srgbClr val="D8DEE8"/>
            </a:solidFill>
            <a:prstDash val="solid"/>
          </a:ln>
        </p:spPr>
        <p:txBody>
          <a:bodyPr/>
          <a:lstStyle/>
          <a:p>
            <a:endParaRPr/>
          </a:p>
        </p:txBody>
      </p:sp>
      <p:sp>
        <p:nvSpPr>
          <p:cNvPr id="22" name="Rektangel 21">
            <a:extLst>
              <a:ext uri="{FF2B5EF4-FFF2-40B4-BE49-F238E27FC236}">
                <a16:creationId xmlns:a16="http://schemas.microsoft.com/office/drawing/2014/main" id="{1C62CB5F-4E3A-4E2C-9A9D-D108F766931F}"/>
              </a:ext>
            </a:extLst>
          </p:cNvPr>
          <p:cNvSpPr>
            <a:spLocks noGrp="1"/>
          </p:cNvSpPr>
          <p:nvPr/>
        </p:nvSpPr>
        <p:spPr>
          <a:xfrm>
            <a:off x="7391400" y="2571750"/>
            <a:ext cx="1457325"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17233D"/>
                </a:solidFill>
                <a:latin typeface="Aptos"/>
                <a:ea typeface="Aptos"/>
                <a:cs typeface="Aptos"/>
              </a:defRPr>
            </a:pPr>
            <a:r>
              <a:rPr sz="1800" b="1">
                <a:solidFill>
                  <a:srgbClr val="17233D"/>
                </a:solidFill>
                <a:latin typeface="Aptos"/>
                <a:ea typeface="Aptos"/>
                <a:cs typeface="Aptos"/>
              </a:rPr>
              <a:t>200 dages</a:t>
            </a:r>
          </a:p>
        </p:txBody>
      </p:sp>
      <p:sp>
        <p:nvSpPr>
          <p:cNvPr id="23" name="Rektangel 22">
            <a:extLst>
              <a:ext uri="{FF2B5EF4-FFF2-40B4-BE49-F238E27FC236}">
                <a16:creationId xmlns:a16="http://schemas.microsoft.com/office/drawing/2014/main" id="{24CA721E-AE94-49BB-A1D9-7564734981DC}"/>
              </a:ext>
            </a:extLst>
          </p:cNvPr>
          <p:cNvSpPr>
            <a:spLocks noGrp="1"/>
          </p:cNvSpPr>
          <p:nvPr/>
        </p:nvSpPr>
        <p:spPr>
          <a:xfrm>
            <a:off x="7391400" y="2895600"/>
            <a:ext cx="1457325" cy="228600"/>
          </a:xfrm>
          <a:prstGeom prst="rect">
            <a:avLst/>
          </a:prstGeom>
          <a:solidFill>
            <a:srgbClr val="000000">
              <a:alpha val="0"/>
            </a:srgbClr>
          </a:solidFill>
          <a:ln w="0">
            <a:solidFill>
              <a:srgbClr val="000000">
                <a:alpha val="0"/>
              </a:srgbClr>
            </a:solidFill>
            <a:prstDash val="solid"/>
          </a:ln>
        </p:spPr>
        <p:txBody>
          <a:bodyPr lIns="0" tIns="0" rIns="0" bIns="0" anchor="t"/>
          <a:lstStyle/>
          <a:p>
            <a:pPr>
              <a:buNone/>
              <a:defRPr sz="750" b="0">
                <a:solidFill>
                  <a:srgbClr val="64748B"/>
                </a:solidFill>
                <a:latin typeface="Aptos"/>
                <a:ea typeface="Aptos"/>
                <a:cs typeface="Aptos"/>
              </a:defRPr>
            </a:pPr>
            <a:r>
              <a:rPr sz="750" b="0">
                <a:solidFill>
                  <a:srgbClr val="64748B"/>
                </a:solidFill>
                <a:latin typeface="Aptos"/>
                <a:ea typeface="Aptos"/>
                <a:cs typeface="Aptos"/>
              </a:rPr>
              <a:t>SMA </a:t>
            </a:r>
            <a:r>
              <a:rPr sz="750">
                <a:solidFill>
                  <a:srgbClr val="64748B"/>
                </a:solidFill>
                <a:latin typeface="Aptos"/>
                <a:ea typeface="Aptos"/>
                <a:cs typeface="Aptos"/>
              </a:rPr>
              <a:t>strategi</a:t>
            </a:r>
          </a:p>
        </p:txBody>
      </p:sp>
      <p:sp>
        <p:nvSpPr>
          <p:cNvPr id="24" name="Rektangel 23">
            <a:extLst>
              <a:ext uri="{FF2B5EF4-FFF2-40B4-BE49-F238E27FC236}">
                <a16:creationId xmlns:a16="http://schemas.microsoft.com/office/drawing/2014/main" id="{E491D53A-4DB9-4824-BA5B-A9ED62B99895}"/>
              </a:ext>
            </a:extLst>
          </p:cNvPr>
          <p:cNvSpPr>
            <a:spLocks noGrp="1"/>
          </p:cNvSpPr>
          <p:nvPr/>
        </p:nvSpPr>
        <p:spPr>
          <a:xfrm>
            <a:off x="9258300" y="2400300"/>
            <a:ext cx="1762125" cy="876300"/>
          </a:xfrm>
          <a:prstGeom prst="rect">
            <a:avLst/>
          </a:prstGeom>
          <a:solidFill>
            <a:srgbClr val="FFFFFF"/>
          </a:solidFill>
          <a:ln w="9525">
            <a:solidFill>
              <a:srgbClr val="D8DEE8"/>
            </a:solidFill>
            <a:prstDash val="solid"/>
          </a:ln>
        </p:spPr>
        <p:txBody>
          <a:bodyPr/>
          <a:lstStyle/>
          <a:p>
            <a:endParaRPr/>
          </a:p>
        </p:txBody>
      </p:sp>
      <p:sp>
        <p:nvSpPr>
          <p:cNvPr id="25" name="Rektangel 24">
            <a:extLst>
              <a:ext uri="{FF2B5EF4-FFF2-40B4-BE49-F238E27FC236}">
                <a16:creationId xmlns:a16="http://schemas.microsoft.com/office/drawing/2014/main" id="{5D4FC2C2-E570-4F02-9DE8-5A6748801297}"/>
              </a:ext>
            </a:extLst>
          </p:cNvPr>
          <p:cNvSpPr>
            <a:spLocks noGrp="1"/>
          </p:cNvSpPr>
          <p:nvPr/>
        </p:nvSpPr>
        <p:spPr>
          <a:xfrm>
            <a:off x="9410700" y="2571750"/>
            <a:ext cx="1457325"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2E8B57"/>
                </a:solidFill>
                <a:latin typeface="Aptos"/>
                <a:ea typeface="Aptos"/>
                <a:cs typeface="Aptos"/>
              </a:defRPr>
            </a:pPr>
            <a:r>
              <a:rPr sz="1800" b="1">
                <a:solidFill>
                  <a:srgbClr val="2E8B57"/>
                </a:solidFill>
                <a:latin typeface="Aptos"/>
                <a:ea typeface="Aptos"/>
                <a:cs typeface="Aptos"/>
              </a:rPr>
              <a:t>$10000</a:t>
            </a:r>
          </a:p>
        </p:txBody>
      </p:sp>
      <p:sp>
        <p:nvSpPr>
          <p:cNvPr id="26" name="Rektangel 25">
            <a:extLst>
              <a:ext uri="{FF2B5EF4-FFF2-40B4-BE49-F238E27FC236}">
                <a16:creationId xmlns:a16="http://schemas.microsoft.com/office/drawing/2014/main" id="{70760631-3BB1-44C1-89DB-F08B81F18AEF}"/>
              </a:ext>
            </a:extLst>
          </p:cNvPr>
          <p:cNvSpPr>
            <a:spLocks noGrp="1"/>
          </p:cNvSpPr>
          <p:nvPr/>
        </p:nvSpPr>
        <p:spPr>
          <a:xfrm>
            <a:off x="9410700" y="2895600"/>
            <a:ext cx="1457325"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64748B"/>
                </a:solidFill>
                <a:latin typeface="Aptos"/>
                <a:ea typeface="Aptos"/>
                <a:cs typeface="Aptos"/>
              </a:defRPr>
            </a:pPr>
            <a:r>
              <a:rPr sz="750" b="0">
                <a:solidFill>
                  <a:srgbClr val="64748B"/>
                </a:solidFill>
                <a:latin typeface="Aptos"/>
                <a:ea typeface="Aptos"/>
                <a:cs typeface="Aptos"/>
              </a:rPr>
              <a:t>Startkapital</a:t>
            </a:r>
          </a:p>
        </p:txBody>
      </p:sp>
      <p:sp>
        <p:nvSpPr>
          <p:cNvPr id="27" name="Rektangel 26">
            <a:extLst>
              <a:ext uri="{FF2B5EF4-FFF2-40B4-BE49-F238E27FC236}">
                <a16:creationId xmlns:a16="http://schemas.microsoft.com/office/drawing/2014/main" id="{24CE1F28-5622-4F82-A82F-6300F18F95A0}"/>
              </a:ext>
            </a:extLst>
          </p:cNvPr>
          <p:cNvSpPr>
            <a:spLocks noGrp="1"/>
          </p:cNvSpPr>
          <p:nvPr/>
        </p:nvSpPr>
        <p:spPr>
          <a:xfrm>
            <a:off x="7239000" y="3714750"/>
            <a:ext cx="3781425" cy="1428750"/>
          </a:xfrm>
          <a:prstGeom prst="rect">
            <a:avLst/>
          </a:prstGeom>
          <a:solidFill>
            <a:srgbClr val="FFFFFF"/>
          </a:solidFill>
          <a:ln w="9525">
            <a:solidFill>
              <a:srgbClr val="D8DEE8"/>
            </a:solidFill>
            <a:prstDash val="solid"/>
          </a:ln>
        </p:spPr>
        <p:txBody>
          <a:bodyPr/>
          <a:lstStyle/>
          <a:p>
            <a:endParaRPr/>
          </a:p>
        </p:txBody>
      </p:sp>
      <p:sp>
        <p:nvSpPr>
          <p:cNvPr id="28" name="Rektangel 27">
            <a:extLst>
              <a:ext uri="{FF2B5EF4-FFF2-40B4-BE49-F238E27FC236}">
                <a16:creationId xmlns:a16="http://schemas.microsoft.com/office/drawing/2014/main" id="{216CD109-E492-4665-8DB5-38044070C340}"/>
              </a:ext>
            </a:extLst>
          </p:cNvPr>
          <p:cNvSpPr>
            <a:spLocks noGrp="1"/>
          </p:cNvSpPr>
          <p:nvPr/>
        </p:nvSpPr>
        <p:spPr>
          <a:xfrm>
            <a:off x="7419975" y="3971925"/>
            <a:ext cx="36766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64748B"/>
                </a:solidFill>
                <a:latin typeface="Aptos"/>
                <a:ea typeface="Aptos"/>
                <a:cs typeface="Aptos"/>
              </a:defRPr>
            </a:pPr>
            <a:r>
              <a:rPr sz="975" b="1">
                <a:solidFill>
                  <a:srgbClr val="64748B"/>
                </a:solidFill>
                <a:latin typeface="Aptos"/>
                <a:ea typeface="Aptos"/>
                <a:cs typeface="Aptos"/>
              </a:rPr>
              <a:t>GitHub repo:</a:t>
            </a:r>
          </a:p>
        </p:txBody>
      </p:sp>
      <p:sp>
        <p:nvSpPr>
          <p:cNvPr id="29" name="Rektangel 28">
            <a:extLst>
              <a:ext uri="{FF2B5EF4-FFF2-40B4-BE49-F238E27FC236}">
                <a16:creationId xmlns:a16="http://schemas.microsoft.com/office/drawing/2014/main" id="{4864F982-9954-4571-B822-2D1ACB2AE816}"/>
              </a:ext>
            </a:extLst>
          </p:cNvPr>
          <p:cNvSpPr>
            <a:spLocks noGrp="1"/>
          </p:cNvSpPr>
          <p:nvPr/>
        </p:nvSpPr>
        <p:spPr>
          <a:xfrm>
            <a:off x="7419975" y="4262437"/>
            <a:ext cx="36766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17233D"/>
                </a:solidFill>
                <a:latin typeface="Aptos"/>
                <a:ea typeface="Aptos"/>
                <a:cs typeface="Aptos"/>
              </a:defRPr>
            </a:pPr>
            <a:r>
              <a:rPr sz="1125" b="0">
                <a:solidFill>
                  <a:srgbClr val="17233D"/>
                </a:solidFill>
                <a:latin typeface="Aptos"/>
                <a:ea typeface="Aptos"/>
                <a:cs typeface="Aptos"/>
              </a:rPr>
              <a:t>https://github.com/tbs7a2013areeb/Backtest-and-Forward-test-of-a-trading-stragy</a:t>
            </a:r>
          </a:p>
        </p:txBody>
      </p:sp>
      <p:sp>
        <p:nvSpPr>
          <p:cNvPr id="30" name="Rektangel 29">
            <a:extLst>
              <a:ext uri="{FF2B5EF4-FFF2-40B4-BE49-F238E27FC236}">
                <a16:creationId xmlns:a16="http://schemas.microsoft.com/office/drawing/2014/main" id="{ED2E3E41-E1B9-48C3-8486-BB86CC1CB0D1}"/>
              </a:ext>
            </a:extLst>
          </p:cNvPr>
          <p:cNvSpPr>
            <a:spLocks noGrp="1"/>
          </p:cNvSpPr>
          <p:nvPr/>
        </p:nvSpPr>
        <p:spPr>
          <a:xfrm>
            <a:off x="400050" y="6572250"/>
            <a:ext cx="8572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00" b="0">
                <a:solidFill>
                  <a:srgbClr val="64748B"/>
                </a:solidFill>
                <a:latin typeface="Aptos"/>
                <a:ea typeface="Aptos"/>
                <a:cs typeface="Aptos"/>
              </a:defRPr>
            </a:pPr>
            <a:r>
              <a:rPr sz="600" b="0">
                <a:solidFill>
                  <a:srgbClr val="64748B"/>
                </a:solidFill>
                <a:latin typeface="Aptos"/>
                <a:ea typeface="Aptos"/>
                <a:cs typeface="Aptos"/>
              </a:rPr>
              <a:t>Datakilde: yfinance | Kode og output findes på GitHub</a:t>
            </a:r>
          </a:p>
        </p:txBody>
      </p:sp>
      <p:sp>
        <p:nvSpPr>
          <p:cNvPr id="32" name="Rektangel 31">
            <a:extLst>
              <a:ext uri="{FF2B5EF4-FFF2-40B4-BE49-F238E27FC236}">
                <a16:creationId xmlns:a16="http://schemas.microsoft.com/office/drawing/2014/main" id="{3E98E4D0-D9E0-4F60-9FAA-52209154F497}"/>
              </a:ext>
            </a:extLst>
          </p:cNvPr>
          <p:cNvSpPr>
            <a:spLocks noGrp="1"/>
          </p:cNvSpPr>
          <p:nvPr/>
        </p:nvSpPr>
        <p:spPr>
          <a:xfrm>
            <a:off x="400050" y="2250888"/>
            <a:ext cx="5334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7E57C2"/>
                </a:solidFill>
                <a:latin typeface="Aptos"/>
                <a:ea typeface="Aptos"/>
                <a:cs typeface="Aptos"/>
              </a:defRPr>
            </a:pPr>
            <a:r>
              <a:rPr sz="1200" b="1">
                <a:solidFill>
                  <a:srgbClr val="7E57C2"/>
                </a:solidFill>
                <a:latin typeface="Aptos"/>
                <a:ea typeface="Aptos"/>
                <a:cs typeface="Aptos"/>
              </a:rPr>
              <a:t>Regler</a:t>
            </a:r>
          </a:p>
        </p:txBody>
      </p:sp>
      <p:sp>
        <p:nvSpPr>
          <p:cNvPr id="33" name="Rektangel 32">
            <a:extLst>
              <a:ext uri="{FF2B5EF4-FFF2-40B4-BE49-F238E27FC236}">
                <a16:creationId xmlns:a16="http://schemas.microsoft.com/office/drawing/2014/main" id="{99C1A4B3-BA97-462B-9B9C-0671C24B648D}"/>
              </a:ext>
            </a:extLst>
          </p:cNvPr>
          <p:cNvSpPr>
            <a:spLocks noGrp="1"/>
          </p:cNvSpPr>
          <p:nvPr/>
        </p:nvSpPr>
        <p:spPr>
          <a:xfrm>
            <a:off x="571500" y="2686050"/>
            <a:ext cx="66675" cy="66675"/>
          </a:xfrm>
          <a:prstGeom prst="rect">
            <a:avLst/>
          </a:prstGeom>
          <a:solidFill>
            <a:srgbClr val="7E57C2"/>
          </a:solidFill>
          <a:ln w="0">
            <a:solidFill>
              <a:srgbClr val="000000">
                <a:alpha val="0"/>
              </a:srgbClr>
            </a:solidFill>
            <a:prstDash val="solid"/>
          </a:ln>
        </p:spPr>
        <p:txBody>
          <a:bodyPr/>
          <a:lstStyle/>
          <a:p>
            <a:endParaRPr/>
          </a:p>
        </p:txBody>
      </p:sp>
      <p:sp>
        <p:nvSpPr>
          <p:cNvPr id="34" name="Rektangel 33">
            <a:extLst>
              <a:ext uri="{FF2B5EF4-FFF2-40B4-BE49-F238E27FC236}">
                <a16:creationId xmlns:a16="http://schemas.microsoft.com/office/drawing/2014/main" id="{230E6CF1-A5CE-4048-A097-200BAEFB6F57}"/>
              </a:ext>
            </a:extLst>
          </p:cNvPr>
          <p:cNvSpPr>
            <a:spLocks noGrp="1"/>
          </p:cNvSpPr>
          <p:nvPr/>
        </p:nvSpPr>
        <p:spPr>
          <a:xfrm>
            <a:off x="762000" y="2628900"/>
            <a:ext cx="5715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17233D"/>
                </a:solidFill>
                <a:latin typeface="Aptos"/>
                <a:ea typeface="Aptos"/>
                <a:cs typeface="Aptos"/>
              </a:defRPr>
            </a:pPr>
            <a:r>
              <a:rPr sz="1125" b="0">
                <a:solidFill>
                  <a:srgbClr val="17233D"/>
                </a:solidFill>
                <a:latin typeface="Aptos"/>
                <a:ea typeface="Aptos"/>
                <a:cs typeface="Aptos"/>
              </a:rPr>
              <a:t>Kun én åben position ad gangen</a:t>
            </a:r>
          </a:p>
        </p:txBody>
      </p:sp>
      <p:sp>
        <p:nvSpPr>
          <p:cNvPr id="35" name="Rektangel 34">
            <a:extLst>
              <a:ext uri="{FF2B5EF4-FFF2-40B4-BE49-F238E27FC236}">
                <a16:creationId xmlns:a16="http://schemas.microsoft.com/office/drawing/2014/main" id="{FAB76D0A-6462-4F8C-B1C7-16F826490686}"/>
              </a:ext>
            </a:extLst>
          </p:cNvPr>
          <p:cNvSpPr>
            <a:spLocks noGrp="1"/>
          </p:cNvSpPr>
          <p:nvPr/>
        </p:nvSpPr>
        <p:spPr>
          <a:xfrm>
            <a:off x="571500" y="3143250"/>
            <a:ext cx="66675" cy="66675"/>
          </a:xfrm>
          <a:prstGeom prst="rect">
            <a:avLst/>
          </a:prstGeom>
          <a:solidFill>
            <a:srgbClr val="7E57C2"/>
          </a:solidFill>
          <a:ln w="0">
            <a:solidFill>
              <a:srgbClr val="000000">
                <a:alpha val="0"/>
              </a:srgbClr>
            </a:solidFill>
            <a:prstDash val="solid"/>
          </a:ln>
        </p:spPr>
        <p:txBody>
          <a:bodyPr/>
          <a:lstStyle/>
          <a:p>
            <a:endParaRPr/>
          </a:p>
        </p:txBody>
      </p:sp>
      <p:sp>
        <p:nvSpPr>
          <p:cNvPr id="36" name="Rektangel 35">
            <a:extLst>
              <a:ext uri="{FF2B5EF4-FFF2-40B4-BE49-F238E27FC236}">
                <a16:creationId xmlns:a16="http://schemas.microsoft.com/office/drawing/2014/main" id="{FA54400E-DEB3-4DAC-BE24-C1230AB837B3}"/>
              </a:ext>
            </a:extLst>
          </p:cNvPr>
          <p:cNvSpPr>
            <a:spLocks noGrp="1"/>
          </p:cNvSpPr>
          <p:nvPr/>
        </p:nvSpPr>
        <p:spPr>
          <a:xfrm>
            <a:off x="762000" y="3086100"/>
            <a:ext cx="5715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buNone/>
              <a:defRPr sz="1125" b="0">
                <a:solidFill>
                  <a:srgbClr val="17233D"/>
                </a:solidFill>
                <a:latin typeface="Aptos"/>
                <a:ea typeface="Aptos"/>
                <a:cs typeface="Aptos"/>
              </a:defRPr>
            </a:pPr>
            <a:r>
              <a:rPr sz="1125" b="1">
                <a:solidFill>
                  <a:srgbClr val="17233D"/>
                </a:solidFill>
                <a:latin typeface="Aptos"/>
                <a:ea typeface="Aptos"/>
                <a:cs typeface="Aptos"/>
              </a:rPr>
              <a:t>Køb: </a:t>
            </a:r>
            <a:r>
              <a:rPr sz="1125"/>
              <a:t>Hvis AAPL kursen ligger over 200 dages SMA</a:t>
            </a:r>
          </a:p>
        </p:txBody>
      </p:sp>
      <p:sp>
        <p:nvSpPr>
          <p:cNvPr id="37" name="Rektangel 36">
            <a:extLst>
              <a:ext uri="{FF2B5EF4-FFF2-40B4-BE49-F238E27FC236}">
                <a16:creationId xmlns:a16="http://schemas.microsoft.com/office/drawing/2014/main" id="{1124FDEA-48B2-4864-A1A6-6EB300814C40}"/>
              </a:ext>
            </a:extLst>
          </p:cNvPr>
          <p:cNvSpPr>
            <a:spLocks noGrp="1"/>
          </p:cNvSpPr>
          <p:nvPr/>
        </p:nvSpPr>
        <p:spPr>
          <a:xfrm>
            <a:off x="571500" y="3600450"/>
            <a:ext cx="66675" cy="66675"/>
          </a:xfrm>
          <a:prstGeom prst="rect">
            <a:avLst/>
          </a:prstGeom>
          <a:solidFill>
            <a:srgbClr val="7E57C2"/>
          </a:solidFill>
          <a:ln w="0">
            <a:solidFill>
              <a:srgbClr val="000000">
                <a:alpha val="0"/>
              </a:srgbClr>
            </a:solidFill>
            <a:prstDash val="solid"/>
          </a:ln>
        </p:spPr>
        <p:txBody>
          <a:bodyPr/>
          <a:lstStyle/>
          <a:p>
            <a:endParaRPr/>
          </a:p>
        </p:txBody>
      </p:sp>
      <p:sp>
        <p:nvSpPr>
          <p:cNvPr id="38" name="Rektangel 37">
            <a:extLst>
              <a:ext uri="{FF2B5EF4-FFF2-40B4-BE49-F238E27FC236}">
                <a16:creationId xmlns:a16="http://schemas.microsoft.com/office/drawing/2014/main" id="{E73C9F0E-EE9B-4649-8D2D-46E3B6406C07}"/>
              </a:ext>
            </a:extLst>
          </p:cNvPr>
          <p:cNvSpPr>
            <a:spLocks noGrp="1"/>
          </p:cNvSpPr>
          <p:nvPr/>
        </p:nvSpPr>
        <p:spPr>
          <a:xfrm>
            <a:off x="762000" y="3543300"/>
            <a:ext cx="5715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buNone/>
              <a:defRPr sz="1125" b="0">
                <a:solidFill>
                  <a:srgbClr val="17233D"/>
                </a:solidFill>
                <a:latin typeface="Aptos"/>
                <a:ea typeface="Aptos"/>
                <a:cs typeface="Aptos"/>
              </a:defRPr>
            </a:pPr>
            <a:r>
              <a:rPr sz="1125" b="1">
                <a:solidFill>
                  <a:srgbClr val="17233D"/>
                </a:solidFill>
                <a:latin typeface="Aptos"/>
                <a:ea typeface="Aptos"/>
                <a:cs typeface="Aptos"/>
              </a:rPr>
              <a:t>Sælg: </a:t>
            </a:r>
            <a:r>
              <a:rPr sz="1125">
                <a:solidFill>
                  <a:srgbClr val="17233D"/>
                </a:solidFill>
                <a:latin typeface="Aptos"/>
                <a:ea typeface="Aptos"/>
                <a:cs typeface="Aptos"/>
              </a:rPr>
              <a:t>Hvis</a:t>
            </a:r>
            <a:r>
              <a:rPr sz="1125" b="1">
                <a:solidFill>
                  <a:srgbClr val="17233D"/>
                </a:solidFill>
                <a:latin typeface="Aptos"/>
                <a:ea typeface="Aptos"/>
                <a:cs typeface="Aptos"/>
              </a:rPr>
              <a:t> </a:t>
            </a:r>
            <a:r>
              <a:rPr sz="1125"/>
              <a:t>AAPL kursen ligger under 200 dages SMA</a:t>
            </a:r>
          </a:p>
        </p:txBody>
      </p:sp>
      <p:sp>
        <p:nvSpPr>
          <p:cNvPr id="39" name="Rektangel 38">
            <a:extLst>
              <a:ext uri="{FF2B5EF4-FFF2-40B4-BE49-F238E27FC236}">
                <a16:creationId xmlns:a16="http://schemas.microsoft.com/office/drawing/2014/main" id="{980D9D7C-B067-4931-A4AE-A62F5FDADE9F}"/>
              </a:ext>
            </a:extLst>
          </p:cNvPr>
          <p:cNvSpPr>
            <a:spLocks noGrp="1"/>
          </p:cNvSpPr>
          <p:nvPr/>
        </p:nvSpPr>
        <p:spPr>
          <a:xfrm>
            <a:off x="571500" y="4057650"/>
            <a:ext cx="66675" cy="66675"/>
          </a:xfrm>
          <a:prstGeom prst="rect">
            <a:avLst/>
          </a:prstGeom>
          <a:solidFill>
            <a:srgbClr val="7E57C2"/>
          </a:solidFill>
          <a:ln w="0">
            <a:solidFill>
              <a:srgbClr val="000000">
                <a:alpha val="0"/>
              </a:srgbClr>
            </a:solidFill>
            <a:prstDash val="solid"/>
          </a:ln>
        </p:spPr>
        <p:txBody>
          <a:bodyPr/>
          <a:lstStyle/>
          <a:p>
            <a:endParaRPr/>
          </a:p>
        </p:txBody>
      </p:sp>
      <p:sp>
        <p:nvSpPr>
          <p:cNvPr id="40" name="Rektangel 39">
            <a:extLst>
              <a:ext uri="{FF2B5EF4-FFF2-40B4-BE49-F238E27FC236}">
                <a16:creationId xmlns:a16="http://schemas.microsoft.com/office/drawing/2014/main" id="{27C61F4D-8517-4643-B939-B51F1AF74168}"/>
              </a:ext>
            </a:extLst>
          </p:cNvPr>
          <p:cNvSpPr>
            <a:spLocks noGrp="1"/>
          </p:cNvSpPr>
          <p:nvPr/>
        </p:nvSpPr>
        <p:spPr>
          <a:xfrm>
            <a:off x="762000" y="4000500"/>
            <a:ext cx="5715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buNone/>
              <a:defRPr sz="1125" b="0">
                <a:solidFill>
                  <a:srgbClr val="17233D"/>
                </a:solidFill>
                <a:latin typeface="Aptos"/>
                <a:ea typeface="Aptos"/>
                <a:cs typeface="Aptos"/>
              </a:defRPr>
            </a:pPr>
            <a:r>
              <a:rPr sz="1125">
                <a:solidFill>
                  <a:srgbClr val="17233D"/>
                </a:solidFill>
                <a:latin typeface="Aptos"/>
                <a:ea typeface="Aptos"/>
                <a:cs typeface="Aptos"/>
              </a:rPr>
              <a:t>Vi går kun lang. At gå kort er ikke tilladt</a:t>
            </a:r>
          </a:p>
        </p:txBody>
      </p:sp>
      <p:sp>
        <p:nvSpPr>
          <p:cNvPr id="5" name="Rektangel 4">
            <a:extLst>
              <a:ext uri="{FF2B5EF4-FFF2-40B4-BE49-F238E27FC236}">
                <a16:creationId xmlns:a16="http://schemas.microsoft.com/office/drawing/2014/main" id="{B059110D-6437-4E87-3A68-273CB68D9796}"/>
              </a:ext>
            </a:extLst>
          </p:cNvPr>
          <p:cNvSpPr>
            <a:spLocks noGrp="1"/>
          </p:cNvSpPr>
          <p:nvPr/>
        </p:nvSpPr>
        <p:spPr>
          <a:xfrm>
            <a:off x="762000" y="4473575"/>
            <a:ext cx="5715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buNone/>
              <a:defRPr sz="1125" b="0">
                <a:solidFill>
                  <a:srgbClr val="17233D"/>
                </a:solidFill>
                <a:latin typeface="Aptos"/>
                <a:ea typeface="Aptos"/>
                <a:cs typeface="Aptos"/>
              </a:defRPr>
            </a:pPr>
            <a:r>
              <a:rPr sz="1125"/>
              <a:t>Når backtesten slutter, lukkes den åbne position, hvis den er åben.</a:t>
            </a:r>
          </a:p>
        </p:txBody>
      </p:sp>
      <p:sp>
        <p:nvSpPr>
          <p:cNvPr id="8" name="Rektangel 7">
            <a:extLst>
              <a:ext uri="{FF2B5EF4-FFF2-40B4-BE49-F238E27FC236}">
                <a16:creationId xmlns:a16="http://schemas.microsoft.com/office/drawing/2014/main" id="{C1695A9C-5862-74FE-D9E7-1EF1B368D2AC}"/>
              </a:ext>
            </a:extLst>
          </p:cNvPr>
          <p:cNvSpPr>
            <a:spLocks noGrp="1"/>
          </p:cNvSpPr>
          <p:nvPr/>
        </p:nvSpPr>
        <p:spPr>
          <a:xfrm>
            <a:off x="571500" y="4538662"/>
            <a:ext cx="66675" cy="66675"/>
          </a:xfrm>
          <a:prstGeom prst="rect">
            <a:avLst/>
          </a:prstGeom>
          <a:solidFill>
            <a:srgbClr val="7E57C2"/>
          </a:solidFill>
          <a:ln w="0">
            <a:solidFill>
              <a:srgbClr val="000000">
                <a:alpha val="0"/>
              </a:srgbClr>
            </a:solidFill>
            <a:prstDash val="solid"/>
          </a:ln>
        </p:spPr>
        <p:txBody>
          <a:bodyPr/>
          <a:lstStyle/>
          <a:p>
            <a:endParaRPr/>
          </a:p>
        </p:txBody>
      </p:sp>
      <p:sp>
        <p:nvSpPr>
          <p:cNvPr id="41" name="SMA quick explanation">
            <a:extLst>
              <a:ext uri="{FF2B5EF4-FFF2-40B4-BE49-F238E27FC236}">
                <a16:creationId xmlns:a16="http://schemas.microsoft.com/office/drawing/2014/main" id="{BBD5F074-5A36-4715-8E80-249383F58B63}"/>
              </a:ext>
            </a:extLst>
          </p:cNvPr>
          <p:cNvSpPr>
            <a:spLocks noGrp="1"/>
          </p:cNvSpPr>
          <p:nvPr/>
        </p:nvSpPr>
        <p:spPr>
          <a:xfrm>
            <a:off x="7239000" y="3371850"/>
            <a:ext cx="37814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5E6F87"/>
                </a:solidFill>
                <a:latin typeface="Aptos"/>
                <a:ea typeface="Aptos"/>
                <a:cs typeface="Aptos"/>
              </a:defRPr>
            </a:pPr>
            <a:r>
              <a:rPr lang="da-DK" sz="900" b="0" dirty="0">
                <a:solidFill>
                  <a:srgbClr val="5E6F87"/>
                </a:solidFill>
                <a:latin typeface="Aptos"/>
                <a:ea typeface="Aptos"/>
                <a:cs typeface="Aptos"/>
              </a:rPr>
              <a:t>200 </a:t>
            </a:r>
            <a:r>
              <a:rPr sz="900" b="0" dirty="0">
                <a:solidFill>
                  <a:srgbClr val="5E6F87"/>
                </a:solidFill>
                <a:latin typeface="Aptos"/>
                <a:ea typeface="Aptos"/>
                <a:cs typeface="Aptos"/>
              </a:rPr>
              <a:t>SMA</a:t>
            </a:r>
            <a:r>
              <a:rPr lang="da-DK" sz="900" b="0" dirty="0">
                <a:solidFill>
                  <a:srgbClr val="5E6F87"/>
                </a:solidFill>
                <a:latin typeface="Aptos"/>
                <a:ea typeface="Aptos"/>
                <a:cs typeface="Aptos"/>
              </a:rPr>
              <a:t> (Simple </a:t>
            </a:r>
            <a:r>
              <a:rPr lang="da-DK" sz="900" b="0" dirty="0" err="1">
                <a:solidFill>
                  <a:srgbClr val="5E6F87"/>
                </a:solidFill>
                <a:latin typeface="Aptos"/>
                <a:ea typeface="Aptos"/>
                <a:cs typeface="Aptos"/>
              </a:rPr>
              <a:t>moving</a:t>
            </a:r>
            <a:r>
              <a:rPr lang="da-DK" sz="900" b="0" dirty="0">
                <a:solidFill>
                  <a:srgbClr val="5E6F87"/>
                </a:solidFill>
                <a:latin typeface="Aptos"/>
                <a:ea typeface="Aptos"/>
                <a:cs typeface="Aptos"/>
              </a:rPr>
              <a:t> average)</a:t>
            </a:r>
            <a:r>
              <a:rPr sz="900" b="0" dirty="0">
                <a:solidFill>
                  <a:srgbClr val="5E6F87"/>
                </a:solidFill>
                <a:latin typeface="Aptos"/>
                <a:ea typeface="Aptos"/>
                <a:cs typeface="Aptos"/>
              </a:rPr>
              <a:t> = </a:t>
            </a:r>
            <a:r>
              <a:rPr sz="900" b="0" dirty="0" err="1">
                <a:solidFill>
                  <a:srgbClr val="5E6F87"/>
                </a:solidFill>
                <a:latin typeface="Aptos"/>
                <a:ea typeface="Aptos"/>
                <a:cs typeface="Aptos"/>
              </a:rPr>
              <a:t>gennemsnittet</a:t>
            </a:r>
            <a:r>
              <a:rPr sz="900" b="0" dirty="0">
                <a:solidFill>
                  <a:srgbClr val="5E6F87"/>
                </a:solidFill>
                <a:latin typeface="Aptos"/>
                <a:ea typeface="Aptos"/>
                <a:cs typeface="Aptos"/>
              </a:rPr>
              <a:t> </a:t>
            </a:r>
            <a:r>
              <a:rPr sz="900" b="0" dirty="0" err="1">
                <a:solidFill>
                  <a:srgbClr val="5E6F87"/>
                </a:solidFill>
                <a:latin typeface="Aptos"/>
                <a:ea typeface="Aptos"/>
                <a:cs typeface="Aptos"/>
              </a:rPr>
              <a:t>af</a:t>
            </a:r>
            <a:r>
              <a:rPr sz="900" b="0" dirty="0">
                <a:solidFill>
                  <a:srgbClr val="5E6F87"/>
                </a:solidFill>
                <a:latin typeface="Aptos"/>
                <a:ea typeface="Aptos"/>
                <a:cs typeface="Aptos"/>
              </a:rPr>
              <a:t> de </a:t>
            </a:r>
            <a:r>
              <a:rPr sz="900" b="0" dirty="0" err="1">
                <a:solidFill>
                  <a:srgbClr val="5E6F87"/>
                </a:solidFill>
                <a:latin typeface="Aptos"/>
                <a:ea typeface="Aptos"/>
                <a:cs typeface="Aptos"/>
              </a:rPr>
              <a:t>seneste</a:t>
            </a:r>
            <a:r>
              <a:rPr sz="900" b="0" dirty="0">
                <a:solidFill>
                  <a:srgbClr val="5E6F87"/>
                </a:solidFill>
                <a:latin typeface="Aptos"/>
                <a:ea typeface="Aptos"/>
                <a:cs typeface="Aptos"/>
              </a:rPr>
              <a:t> 200 </a:t>
            </a:r>
            <a:r>
              <a:rPr sz="900" b="0" dirty="0" err="1">
                <a:solidFill>
                  <a:srgbClr val="5E6F87"/>
                </a:solidFill>
                <a:latin typeface="Aptos"/>
                <a:ea typeface="Aptos"/>
                <a:cs typeface="Aptos"/>
              </a:rPr>
              <a:t>lukkekurser</a:t>
            </a:r>
            <a:r>
              <a:rPr sz="900" b="0" dirty="0">
                <a:solidFill>
                  <a:srgbClr val="5E6F87"/>
                </a:solidFill>
                <a:latin typeface="Aptos"/>
                <a:ea typeface="Aptos"/>
                <a:cs typeface="Aptos"/>
              </a:rPr>
              <a:t>.</a:t>
            </a:r>
          </a:p>
        </p:txBody>
      </p:sp>
    </p:spTree>
    <p:extLst>
      <p:ext uri="{BB962C8B-B14F-4D97-AF65-F5344CB8AC3E}">
        <p14:creationId xmlns:p14="http://schemas.microsoft.com/office/powerpoint/2010/main" val="1092143212"/>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ktangel 35">
            <a:extLst>
              <a:ext uri="{FF2B5EF4-FFF2-40B4-BE49-F238E27FC236}">
                <a16:creationId xmlns:a16="http://schemas.microsoft.com/office/drawing/2014/main" id="{D7263E57-C8AF-4192-87A2-FB215446627E}"/>
              </a:ext>
            </a:extLst>
          </p:cNvPr>
          <p:cNvSpPr>
            <a:spLocks noGrp="1" noRot="1" noMove="1" noResize="1" noEditPoints="1" noAdjustHandles="1" noChangeArrowheads="1" noChangeShapeType="1"/>
          </p:cNvSpPr>
          <p:nvPr/>
        </p:nvSpPr>
        <p:spPr>
          <a:xfrm>
            <a:off x="0" y="133350"/>
            <a:ext cx="12192000" cy="6724650"/>
          </a:xfrm>
          <a:prstGeom prst="rect">
            <a:avLst/>
          </a:prstGeom>
          <a:solidFill>
            <a:srgbClr val="F7F5F0"/>
          </a:solidFill>
          <a:ln w="0">
            <a:solidFill>
              <a:srgbClr val="000000">
                <a:alpha val="0"/>
              </a:srgbClr>
            </a:solidFill>
            <a:prstDash val="solid"/>
          </a:ln>
        </p:spPr>
        <p:txBody>
          <a:bodyPr/>
          <a:lstStyle/>
          <a:p>
            <a:endParaRPr/>
          </a:p>
        </p:txBody>
      </p:sp>
      <p:sp>
        <p:nvSpPr>
          <p:cNvPr id="2" name="Rektangel 1">
            <a:extLst>
              <a:ext uri="{FF2B5EF4-FFF2-40B4-BE49-F238E27FC236}">
                <a16:creationId xmlns:a16="http://schemas.microsoft.com/office/drawing/2014/main" id="{0613CDD5-2D5C-4E09-A20A-7665F060CC30}"/>
              </a:ext>
            </a:extLst>
          </p:cNvPr>
          <p:cNvSpPr>
            <a:spLocks noGrp="1"/>
          </p:cNvSpPr>
          <p:nvPr/>
        </p:nvSpPr>
        <p:spPr>
          <a:xfrm>
            <a:off x="0" y="0"/>
            <a:ext cx="12192000" cy="990600"/>
          </a:xfrm>
          <a:prstGeom prst="rect">
            <a:avLst/>
          </a:prstGeom>
          <a:solidFill>
            <a:srgbClr val="14213D"/>
          </a:solidFill>
          <a:ln w="0">
            <a:solidFill>
              <a:srgbClr val="000000">
                <a:alpha val="0"/>
              </a:srgbClr>
            </a:solidFill>
            <a:prstDash val="solid"/>
          </a:ln>
        </p:spPr>
        <p:txBody>
          <a:bodyPr/>
          <a:lstStyle/>
          <a:p>
            <a:endParaRPr/>
          </a:p>
        </p:txBody>
      </p:sp>
      <p:sp>
        <p:nvSpPr>
          <p:cNvPr id="3" name="Rektangel 2">
            <a:extLst>
              <a:ext uri="{FF2B5EF4-FFF2-40B4-BE49-F238E27FC236}">
                <a16:creationId xmlns:a16="http://schemas.microsoft.com/office/drawing/2014/main" id="{80FFDD5D-DC14-47E5-A21D-3920CCCE357B}"/>
              </a:ext>
            </a:extLst>
          </p:cNvPr>
          <p:cNvSpPr>
            <a:spLocks noGrp="1"/>
          </p:cNvSpPr>
          <p:nvPr/>
        </p:nvSpPr>
        <p:spPr>
          <a:xfrm>
            <a:off x="400050" y="133350"/>
            <a:ext cx="2095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7C0D4"/>
                </a:solidFill>
                <a:latin typeface="Aptos"/>
                <a:ea typeface="Aptos"/>
                <a:cs typeface="Aptos"/>
              </a:defRPr>
            </a:pPr>
            <a:r>
              <a:rPr sz="900" b="1">
                <a:solidFill>
                  <a:srgbClr val="B7C0D4"/>
                </a:solidFill>
                <a:latin typeface="Aptos"/>
                <a:ea typeface="Aptos"/>
                <a:cs typeface="Aptos"/>
              </a:rPr>
              <a:t>BACKTEST</a:t>
            </a:r>
          </a:p>
        </p:txBody>
      </p:sp>
      <p:sp>
        <p:nvSpPr>
          <p:cNvPr id="4" name="Rektangel 3">
            <a:extLst>
              <a:ext uri="{FF2B5EF4-FFF2-40B4-BE49-F238E27FC236}">
                <a16:creationId xmlns:a16="http://schemas.microsoft.com/office/drawing/2014/main" id="{2B9B0B51-DE5B-4C42-B81B-227DC4410598}"/>
              </a:ext>
            </a:extLst>
          </p:cNvPr>
          <p:cNvSpPr>
            <a:spLocks noGrp="1"/>
          </p:cNvSpPr>
          <p:nvPr/>
        </p:nvSpPr>
        <p:spPr>
          <a:xfrm>
            <a:off x="400050" y="419100"/>
            <a:ext cx="7810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FFFFFF"/>
                </a:solidFill>
                <a:latin typeface="Aptos"/>
                <a:ea typeface="Aptos"/>
                <a:cs typeface="Aptos"/>
              </a:defRPr>
            </a:pPr>
            <a:r>
              <a:rPr sz="2100" b="1">
                <a:solidFill>
                  <a:srgbClr val="FFFFFF"/>
                </a:solidFill>
                <a:latin typeface="Aptos"/>
                <a:ea typeface="Aptos"/>
                <a:cs typeface="Aptos"/>
              </a:rPr>
              <a:t>Backtesten viser stærk vækst, men også drawdown risiko</a:t>
            </a:r>
          </a:p>
        </p:txBody>
      </p:sp>
      <p:sp>
        <p:nvSpPr>
          <p:cNvPr id="5" name="Rektangel 4">
            <a:extLst>
              <a:ext uri="{FF2B5EF4-FFF2-40B4-BE49-F238E27FC236}">
                <a16:creationId xmlns:a16="http://schemas.microsoft.com/office/drawing/2014/main" id="{7DCA40B4-3E1C-46C1-90CA-FD3DC76CD28A}"/>
              </a:ext>
            </a:extLst>
          </p:cNvPr>
          <p:cNvSpPr>
            <a:spLocks noGrp="1"/>
          </p:cNvSpPr>
          <p:nvPr/>
        </p:nvSpPr>
        <p:spPr>
          <a:xfrm>
            <a:off x="10287000" y="495300"/>
            <a:ext cx="1428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0">
                <a:solidFill>
                  <a:srgbClr val="D9DEE9"/>
                </a:solidFill>
                <a:latin typeface="Aptos"/>
                <a:ea typeface="Aptos"/>
                <a:cs typeface="Aptos"/>
              </a:defRPr>
            </a:pPr>
            <a:r>
              <a:rPr sz="900" b="0">
                <a:solidFill>
                  <a:srgbClr val="D9DEE9"/>
                </a:solidFill>
                <a:latin typeface="Aptos"/>
                <a:ea typeface="Aptos"/>
                <a:cs typeface="Aptos"/>
              </a:rPr>
              <a:t>2014-2026</a:t>
            </a:r>
          </a:p>
        </p:txBody>
      </p:sp>
      <p:sp>
        <p:nvSpPr>
          <p:cNvPr id="6" name="Rektangel 5">
            <a:extLst>
              <a:ext uri="{FF2B5EF4-FFF2-40B4-BE49-F238E27FC236}">
                <a16:creationId xmlns:a16="http://schemas.microsoft.com/office/drawing/2014/main" id="{F44A7496-22FF-4D59-8568-3C3E0F32DE4C}"/>
              </a:ext>
            </a:extLst>
          </p:cNvPr>
          <p:cNvSpPr>
            <a:spLocks noGrp="1"/>
          </p:cNvSpPr>
          <p:nvPr/>
        </p:nvSpPr>
        <p:spPr>
          <a:xfrm>
            <a:off x="495300" y="1066800"/>
            <a:ext cx="3810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64748B"/>
                </a:solidFill>
                <a:latin typeface="Aptos"/>
                <a:ea typeface="Aptos"/>
                <a:cs typeface="Aptos"/>
              </a:defRPr>
            </a:pPr>
            <a:r>
              <a:rPr sz="750" b="1">
                <a:solidFill>
                  <a:srgbClr val="64748B"/>
                </a:solidFill>
                <a:latin typeface="Aptos"/>
                <a:ea typeface="Aptos"/>
                <a:cs typeface="Aptos"/>
              </a:rPr>
              <a:t>PRIS OG HANDELSSIGNALER</a:t>
            </a:r>
          </a:p>
        </p:txBody>
      </p:sp>
      <p:pic>
        <p:nvPicPr>
          <p:cNvPr id="42" name="Billede 6"/>
          <p:cNvPicPr>
            <a:picLocks noSelect="1" noChangeAspect="1" noMove="1" noResize="1" noCrop="1"/>
          </p:cNvPicPr>
          <p:nvPr/>
        </p:nvPicPr>
        <p:blipFill>
          <a:blip r:embed="rId3"/>
          <a:stretch/>
        </p:blipFill>
        <p:spPr>
          <a:xfrm>
            <a:off x="779278" y="1257300"/>
            <a:ext cx="4746997" cy="2373499"/>
          </a:xfrm>
          <a:prstGeom prst="rect">
            <a:avLst/>
          </a:prstGeom>
        </p:spPr>
      </p:pic>
      <p:sp>
        <p:nvSpPr>
          <p:cNvPr id="8" name="Rektangel 7">
            <a:extLst>
              <a:ext uri="{FF2B5EF4-FFF2-40B4-BE49-F238E27FC236}">
                <a16:creationId xmlns:a16="http://schemas.microsoft.com/office/drawing/2014/main" id="{E9D16291-9DB3-41A2-BA2A-1B8C85BA58DA}"/>
              </a:ext>
            </a:extLst>
          </p:cNvPr>
          <p:cNvSpPr>
            <a:spLocks noGrp="1"/>
          </p:cNvSpPr>
          <p:nvPr/>
        </p:nvSpPr>
        <p:spPr>
          <a:xfrm>
            <a:off x="495300" y="3752850"/>
            <a:ext cx="3810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64748B"/>
                </a:solidFill>
                <a:latin typeface="Aptos"/>
                <a:ea typeface="Aptos"/>
                <a:cs typeface="Aptos"/>
              </a:defRPr>
            </a:pPr>
            <a:r>
              <a:rPr sz="750" b="1">
                <a:solidFill>
                  <a:srgbClr val="64748B"/>
                </a:solidFill>
                <a:latin typeface="Aptos"/>
                <a:ea typeface="Aptos"/>
                <a:cs typeface="Aptos"/>
              </a:rPr>
              <a:t>KAPITALKURVE</a:t>
            </a:r>
          </a:p>
        </p:txBody>
      </p:sp>
      <p:pic>
        <p:nvPicPr>
          <p:cNvPr id="44" name="Billede 8"/>
          <p:cNvPicPr>
            <a:picLocks noSelect="1" noChangeAspect="1" noMove="1" noResize="1" noCrop="1"/>
          </p:cNvPicPr>
          <p:nvPr/>
        </p:nvPicPr>
        <p:blipFill>
          <a:blip r:embed="rId4"/>
          <a:stretch/>
        </p:blipFill>
        <p:spPr>
          <a:xfrm>
            <a:off x="779276" y="3943350"/>
            <a:ext cx="4746999" cy="2373500"/>
          </a:xfrm>
          <a:prstGeom prst="rect">
            <a:avLst/>
          </a:prstGeom>
        </p:spPr>
      </p:pic>
      <p:sp>
        <p:nvSpPr>
          <p:cNvPr id="10" name="Rektangel 9">
            <a:extLst>
              <a:ext uri="{FF2B5EF4-FFF2-40B4-BE49-F238E27FC236}">
                <a16:creationId xmlns:a16="http://schemas.microsoft.com/office/drawing/2014/main" id="{639E41ED-C741-4319-9AC8-E2E59B6BDBA0}"/>
              </a:ext>
            </a:extLst>
          </p:cNvPr>
          <p:cNvSpPr>
            <a:spLocks noGrp="1"/>
          </p:cNvSpPr>
          <p:nvPr/>
        </p:nvSpPr>
        <p:spPr>
          <a:xfrm>
            <a:off x="6286500" y="1295400"/>
            <a:ext cx="2286000" cy="819150"/>
          </a:xfrm>
          <a:prstGeom prst="rect">
            <a:avLst/>
          </a:prstGeom>
          <a:solidFill>
            <a:srgbClr val="FFFFFF"/>
          </a:solidFill>
          <a:ln w="9525">
            <a:solidFill>
              <a:srgbClr val="D8DEE8"/>
            </a:solidFill>
            <a:prstDash val="solid"/>
          </a:ln>
        </p:spPr>
        <p:txBody>
          <a:bodyPr/>
          <a:lstStyle/>
          <a:p>
            <a:endParaRPr/>
          </a:p>
        </p:txBody>
      </p:sp>
      <p:sp>
        <p:nvSpPr>
          <p:cNvPr id="11" name="Rektangel 10">
            <a:extLst>
              <a:ext uri="{FF2B5EF4-FFF2-40B4-BE49-F238E27FC236}">
                <a16:creationId xmlns:a16="http://schemas.microsoft.com/office/drawing/2014/main" id="{FA2813B8-4C90-42EC-93E8-958E37FEF535}"/>
              </a:ext>
            </a:extLst>
          </p:cNvPr>
          <p:cNvSpPr>
            <a:spLocks noGrp="1"/>
          </p:cNvSpPr>
          <p:nvPr/>
        </p:nvSpPr>
        <p:spPr>
          <a:xfrm>
            <a:off x="6438900" y="1466850"/>
            <a:ext cx="1981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2E8B57"/>
                </a:solidFill>
                <a:latin typeface="Aptos"/>
                <a:ea typeface="Aptos"/>
                <a:cs typeface="Aptos"/>
              </a:defRPr>
            </a:pPr>
            <a:r>
              <a:rPr sz="1800" b="1">
                <a:solidFill>
                  <a:srgbClr val="2E8B57"/>
                </a:solidFill>
                <a:latin typeface="Aptos"/>
                <a:ea typeface="Aptos"/>
                <a:cs typeface="Aptos"/>
              </a:rPr>
              <a:t>$64.4k</a:t>
            </a:r>
          </a:p>
        </p:txBody>
      </p:sp>
      <p:sp>
        <p:nvSpPr>
          <p:cNvPr id="12" name="Rektangel 11">
            <a:extLst>
              <a:ext uri="{FF2B5EF4-FFF2-40B4-BE49-F238E27FC236}">
                <a16:creationId xmlns:a16="http://schemas.microsoft.com/office/drawing/2014/main" id="{4D5DF8B3-53C8-45FB-997E-1735F69B2E4E}"/>
              </a:ext>
            </a:extLst>
          </p:cNvPr>
          <p:cNvSpPr>
            <a:spLocks noGrp="1"/>
          </p:cNvSpPr>
          <p:nvPr/>
        </p:nvSpPr>
        <p:spPr>
          <a:xfrm>
            <a:off x="6438900" y="1790700"/>
            <a:ext cx="1981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64748B"/>
                </a:solidFill>
                <a:latin typeface="Aptos"/>
                <a:ea typeface="Aptos"/>
                <a:cs typeface="Aptos"/>
              </a:defRPr>
            </a:pPr>
            <a:r>
              <a:rPr sz="750" b="0">
                <a:solidFill>
                  <a:srgbClr val="64748B"/>
                </a:solidFill>
                <a:latin typeface="Aptos"/>
                <a:ea typeface="Aptos"/>
                <a:cs typeface="Aptos"/>
              </a:rPr>
              <a:t>Slutkapital</a:t>
            </a:r>
          </a:p>
        </p:txBody>
      </p:sp>
      <p:sp>
        <p:nvSpPr>
          <p:cNvPr id="13" name="Rektangel 12">
            <a:extLst>
              <a:ext uri="{FF2B5EF4-FFF2-40B4-BE49-F238E27FC236}">
                <a16:creationId xmlns:a16="http://schemas.microsoft.com/office/drawing/2014/main" id="{95B2CF01-57FA-42B4-ACB7-F9FD1DEAB0F2}"/>
              </a:ext>
            </a:extLst>
          </p:cNvPr>
          <p:cNvSpPr>
            <a:spLocks noGrp="1"/>
          </p:cNvSpPr>
          <p:nvPr/>
        </p:nvSpPr>
        <p:spPr>
          <a:xfrm>
            <a:off x="8858250" y="1295400"/>
            <a:ext cx="2286000" cy="819150"/>
          </a:xfrm>
          <a:prstGeom prst="rect">
            <a:avLst/>
          </a:prstGeom>
          <a:solidFill>
            <a:srgbClr val="FFFFFF"/>
          </a:solidFill>
          <a:ln w="9525">
            <a:solidFill>
              <a:srgbClr val="D8DEE8"/>
            </a:solidFill>
            <a:prstDash val="solid"/>
          </a:ln>
        </p:spPr>
        <p:txBody>
          <a:bodyPr/>
          <a:lstStyle/>
          <a:p>
            <a:endParaRPr/>
          </a:p>
        </p:txBody>
      </p:sp>
      <p:sp>
        <p:nvSpPr>
          <p:cNvPr id="14" name="Rektangel 13">
            <a:extLst>
              <a:ext uri="{FF2B5EF4-FFF2-40B4-BE49-F238E27FC236}">
                <a16:creationId xmlns:a16="http://schemas.microsoft.com/office/drawing/2014/main" id="{44ED6DB0-514C-47EB-8CC0-EAD7C78F2A51}"/>
              </a:ext>
            </a:extLst>
          </p:cNvPr>
          <p:cNvSpPr>
            <a:spLocks noGrp="1"/>
          </p:cNvSpPr>
          <p:nvPr/>
        </p:nvSpPr>
        <p:spPr>
          <a:xfrm>
            <a:off x="9010650" y="1466850"/>
            <a:ext cx="1981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2E8B57"/>
                </a:solidFill>
                <a:latin typeface="Aptos"/>
                <a:ea typeface="Aptos"/>
                <a:cs typeface="Aptos"/>
              </a:defRPr>
            </a:pPr>
            <a:r>
              <a:rPr sz="1800" b="1">
                <a:solidFill>
                  <a:srgbClr val="2E8B57"/>
                </a:solidFill>
                <a:latin typeface="Aptos"/>
                <a:ea typeface="Aptos"/>
                <a:cs typeface="Aptos"/>
              </a:rPr>
              <a:t>543.6%</a:t>
            </a:r>
          </a:p>
        </p:txBody>
      </p:sp>
      <p:sp>
        <p:nvSpPr>
          <p:cNvPr id="15" name="Rektangel 14">
            <a:extLst>
              <a:ext uri="{FF2B5EF4-FFF2-40B4-BE49-F238E27FC236}">
                <a16:creationId xmlns:a16="http://schemas.microsoft.com/office/drawing/2014/main" id="{4FB37F71-573D-4E51-8A6B-01E6961DCCBB}"/>
              </a:ext>
            </a:extLst>
          </p:cNvPr>
          <p:cNvSpPr>
            <a:spLocks noGrp="1"/>
          </p:cNvSpPr>
          <p:nvPr/>
        </p:nvSpPr>
        <p:spPr>
          <a:xfrm>
            <a:off x="9010650" y="1790700"/>
            <a:ext cx="1981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64748B"/>
                </a:solidFill>
                <a:latin typeface="Aptos"/>
                <a:ea typeface="Aptos"/>
                <a:cs typeface="Aptos"/>
              </a:defRPr>
            </a:pPr>
            <a:r>
              <a:rPr sz="750" b="0">
                <a:solidFill>
                  <a:srgbClr val="64748B"/>
                </a:solidFill>
                <a:latin typeface="Aptos"/>
                <a:ea typeface="Aptos"/>
                <a:cs typeface="Aptos"/>
              </a:rPr>
              <a:t>Samlet afkast</a:t>
            </a:r>
          </a:p>
        </p:txBody>
      </p:sp>
      <p:sp>
        <p:nvSpPr>
          <p:cNvPr id="16" name="Rektangel 15">
            <a:extLst>
              <a:ext uri="{FF2B5EF4-FFF2-40B4-BE49-F238E27FC236}">
                <a16:creationId xmlns:a16="http://schemas.microsoft.com/office/drawing/2014/main" id="{DF40830E-668C-4BF4-A12E-6E53D669A6DC}"/>
              </a:ext>
            </a:extLst>
          </p:cNvPr>
          <p:cNvSpPr>
            <a:spLocks noGrp="1"/>
          </p:cNvSpPr>
          <p:nvPr/>
        </p:nvSpPr>
        <p:spPr>
          <a:xfrm>
            <a:off x="6286500" y="2343150"/>
            <a:ext cx="2286000" cy="819150"/>
          </a:xfrm>
          <a:prstGeom prst="rect">
            <a:avLst/>
          </a:prstGeom>
          <a:solidFill>
            <a:srgbClr val="FFFFFF"/>
          </a:solidFill>
          <a:ln w="9525">
            <a:solidFill>
              <a:srgbClr val="D8DEE8"/>
            </a:solidFill>
            <a:prstDash val="solid"/>
          </a:ln>
        </p:spPr>
        <p:txBody>
          <a:bodyPr/>
          <a:lstStyle/>
          <a:p>
            <a:endParaRPr/>
          </a:p>
        </p:txBody>
      </p:sp>
      <p:sp>
        <p:nvSpPr>
          <p:cNvPr id="17" name="Rektangel 16">
            <a:extLst>
              <a:ext uri="{FF2B5EF4-FFF2-40B4-BE49-F238E27FC236}">
                <a16:creationId xmlns:a16="http://schemas.microsoft.com/office/drawing/2014/main" id="{CF33CBA8-1546-452F-8D29-78EA16B9D7EB}"/>
              </a:ext>
            </a:extLst>
          </p:cNvPr>
          <p:cNvSpPr>
            <a:spLocks noGrp="1"/>
          </p:cNvSpPr>
          <p:nvPr/>
        </p:nvSpPr>
        <p:spPr>
          <a:xfrm>
            <a:off x="6438900" y="2514600"/>
            <a:ext cx="1981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7E57C2"/>
                </a:solidFill>
                <a:latin typeface="Aptos"/>
                <a:ea typeface="Aptos"/>
                <a:cs typeface="Aptos"/>
              </a:defRPr>
            </a:pPr>
            <a:r>
              <a:rPr sz="1800" b="1">
                <a:solidFill>
                  <a:srgbClr val="7E57C2"/>
                </a:solidFill>
                <a:latin typeface="Aptos"/>
                <a:ea typeface="Aptos"/>
                <a:cs typeface="Aptos"/>
              </a:rPr>
              <a:t>1,202.7%</a:t>
            </a:r>
          </a:p>
        </p:txBody>
      </p:sp>
      <p:sp>
        <p:nvSpPr>
          <p:cNvPr id="18" name="Rektangel 17">
            <a:extLst>
              <a:ext uri="{FF2B5EF4-FFF2-40B4-BE49-F238E27FC236}">
                <a16:creationId xmlns:a16="http://schemas.microsoft.com/office/drawing/2014/main" id="{12DA2944-D8B8-45BC-B36B-26842440DADD}"/>
              </a:ext>
            </a:extLst>
          </p:cNvPr>
          <p:cNvSpPr>
            <a:spLocks noGrp="1"/>
          </p:cNvSpPr>
          <p:nvPr/>
        </p:nvSpPr>
        <p:spPr>
          <a:xfrm>
            <a:off x="6438900" y="2838450"/>
            <a:ext cx="1981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64748B"/>
                </a:solidFill>
                <a:latin typeface="Aptos"/>
                <a:ea typeface="Aptos"/>
                <a:cs typeface="Aptos"/>
              </a:defRPr>
            </a:pPr>
            <a:r>
              <a:rPr sz="750" b="0">
                <a:solidFill>
                  <a:srgbClr val="64748B"/>
                </a:solidFill>
                <a:latin typeface="Aptos"/>
                <a:ea typeface="Aptos"/>
                <a:cs typeface="Aptos"/>
              </a:rPr>
              <a:t>Køb og hold</a:t>
            </a:r>
          </a:p>
        </p:txBody>
      </p:sp>
      <p:sp>
        <p:nvSpPr>
          <p:cNvPr id="19" name="Rektangel 18">
            <a:extLst>
              <a:ext uri="{FF2B5EF4-FFF2-40B4-BE49-F238E27FC236}">
                <a16:creationId xmlns:a16="http://schemas.microsoft.com/office/drawing/2014/main" id="{C3085DE5-6181-4A32-B131-ACD6B3047C30}"/>
              </a:ext>
            </a:extLst>
          </p:cNvPr>
          <p:cNvSpPr>
            <a:spLocks noGrp="1"/>
          </p:cNvSpPr>
          <p:nvPr/>
        </p:nvSpPr>
        <p:spPr>
          <a:xfrm>
            <a:off x="8858250" y="2343150"/>
            <a:ext cx="2286000" cy="819150"/>
          </a:xfrm>
          <a:prstGeom prst="rect">
            <a:avLst/>
          </a:prstGeom>
          <a:solidFill>
            <a:srgbClr val="FFFFFF"/>
          </a:solidFill>
          <a:ln w="9525">
            <a:solidFill>
              <a:srgbClr val="D8DEE8"/>
            </a:solidFill>
            <a:prstDash val="solid"/>
          </a:ln>
        </p:spPr>
        <p:txBody>
          <a:bodyPr/>
          <a:lstStyle/>
          <a:p>
            <a:endParaRPr/>
          </a:p>
        </p:txBody>
      </p:sp>
      <p:sp>
        <p:nvSpPr>
          <p:cNvPr id="20" name="Rektangel 19">
            <a:extLst>
              <a:ext uri="{FF2B5EF4-FFF2-40B4-BE49-F238E27FC236}">
                <a16:creationId xmlns:a16="http://schemas.microsoft.com/office/drawing/2014/main" id="{324D226A-F348-47AF-9267-E4F3DA70953C}"/>
              </a:ext>
            </a:extLst>
          </p:cNvPr>
          <p:cNvSpPr>
            <a:spLocks noGrp="1"/>
          </p:cNvSpPr>
          <p:nvPr/>
        </p:nvSpPr>
        <p:spPr>
          <a:xfrm>
            <a:off x="9010650" y="2514600"/>
            <a:ext cx="1981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D64F4F"/>
                </a:solidFill>
                <a:latin typeface="Aptos"/>
                <a:ea typeface="Aptos"/>
                <a:cs typeface="Aptos"/>
              </a:defRPr>
            </a:pPr>
            <a:r>
              <a:rPr sz="1800" b="1">
                <a:solidFill>
                  <a:srgbClr val="D64F4F"/>
                </a:solidFill>
                <a:latin typeface="Aptos"/>
                <a:ea typeface="Aptos"/>
                <a:cs typeface="Aptos"/>
              </a:rPr>
              <a:t>-35.3%</a:t>
            </a:r>
          </a:p>
        </p:txBody>
      </p:sp>
      <p:sp>
        <p:nvSpPr>
          <p:cNvPr id="21" name="Rektangel 20">
            <a:extLst>
              <a:ext uri="{FF2B5EF4-FFF2-40B4-BE49-F238E27FC236}">
                <a16:creationId xmlns:a16="http://schemas.microsoft.com/office/drawing/2014/main" id="{150E7052-B61F-471F-A727-0B3582CA635A}"/>
              </a:ext>
            </a:extLst>
          </p:cNvPr>
          <p:cNvSpPr>
            <a:spLocks noGrp="1"/>
          </p:cNvSpPr>
          <p:nvPr/>
        </p:nvSpPr>
        <p:spPr>
          <a:xfrm>
            <a:off x="9010650" y="2838450"/>
            <a:ext cx="1981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64748B"/>
                </a:solidFill>
                <a:latin typeface="Aptos"/>
                <a:ea typeface="Aptos"/>
                <a:cs typeface="Aptos"/>
              </a:defRPr>
            </a:pPr>
            <a:r>
              <a:rPr sz="750" b="0">
                <a:solidFill>
                  <a:srgbClr val="64748B"/>
                </a:solidFill>
                <a:latin typeface="Aptos"/>
                <a:ea typeface="Aptos"/>
                <a:cs typeface="Aptos"/>
              </a:rPr>
              <a:t>Maks. drawdown</a:t>
            </a:r>
          </a:p>
        </p:txBody>
      </p:sp>
      <p:sp>
        <p:nvSpPr>
          <p:cNvPr id="22" name="Rektangel 21">
            <a:extLst>
              <a:ext uri="{FF2B5EF4-FFF2-40B4-BE49-F238E27FC236}">
                <a16:creationId xmlns:a16="http://schemas.microsoft.com/office/drawing/2014/main" id="{170F2F41-9D8A-4E43-9A83-B01BC52F69AA}"/>
              </a:ext>
            </a:extLst>
          </p:cNvPr>
          <p:cNvSpPr>
            <a:spLocks noGrp="1"/>
          </p:cNvSpPr>
          <p:nvPr/>
        </p:nvSpPr>
        <p:spPr>
          <a:xfrm>
            <a:off x="6286500" y="3390900"/>
            <a:ext cx="2286000" cy="819150"/>
          </a:xfrm>
          <a:prstGeom prst="rect">
            <a:avLst/>
          </a:prstGeom>
          <a:solidFill>
            <a:srgbClr val="FFFFFF"/>
          </a:solidFill>
          <a:ln w="9525">
            <a:solidFill>
              <a:srgbClr val="D8DEE8"/>
            </a:solidFill>
            <a:prstDash val="solid"/>
          </a:ln>
        </p:spPr>
        <p:txBody>
          <a:bodyPr/>
          <a:lstStyle/>
          <a:p>
            <a:endParaRPr/>
          </a:p>
        </p:txBody>
      </p:sp>
      <p:sp>
        <p:nvSpPr>
          <p:cNvPr id="23" name="Rektangel 22">
            <a:extLst>
              <a:ext uri="{FF2B5EF4-FFF2-40B4-BE49-F238E27FC236}">
                <a16:creationId xmlns:a16="http://schemas.microsoft.com/office/drawing/2014/main" id="{04D7C81B-9D47-4B97-BDD3-65D2018A4C71}"/>
              </a:ext>
            </a:extLst>
          </p:cNvPr>
          <p:cNvSpPr>
            <a:spLocks noGrp="1"/>
          </p:cNvSpPr>
          <p:nvPr/>
        </p:nvSpPr>
        <p:spPr>
          <a:xfrm>
            <a:off x="6438900" y="3562350"/>
            <a:ext cx="1981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17233D"/>
                </a:solidFill>
                <a:latin typeface="Aptos"/>
                <a:ea typeface="Aptos"/>
                <a:cs typeface="Aptos"/>
              </a:defRPr>
            </a:pPr>
            <a:r>
              <a:rPr sz="1800" b="1">
                <a:solidFill>
                  <a:srgbClr val="17233D"/>
                </a:solidFill>
                <a:latin typeface="Aptos"/>
                <a:ea typeface="Aptos"/>
                <a:cs typeface="Aptos"/>
              </a:rPr>
              <a:t>29</a:t>
            </a:r>
          </a:p>
        </p:txBody>
      </p:sp>
      <p:sp>
        <p:nvSpPr>
          <p:cNvPr id="24" name="Rektangel 23">
            <a:extLst>
              <a:ext uri="{FF2B5EF4-FFF2-40B4-BE49-F238E27FC236}">
                <a16:creationId xmlns:a16="http://schemas.microsoft.com/office/drawing/2014/main" id="{AA00871B-E974-4BB5-B4A9-0907A636CC95}"/>
              </a:ext>
            </a:extLst>
          </p:cNvPr>
          <p:cNvSpPr>
            <a:spLocks noGrp="1"/>
          </p:cNvSpPr>
          <p:nvPr/>
        </p:nvSpPr>
        <p:spPr>
          <a:xfrm>
            <a:off x="6438900" y="3886200"/>
            <a:ext cx="1981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64748B"/>
                </a:solidFill>
                <a:latin typeface="Aptos"/>
                <a:ea typeface="Aptos"/>
                <a:cs typeface="Aptos"/>
              </a:defRPr>
            </a:pPr>
            <a:r>
              <a:rPr sz="750" b="0">
                <a:solidFill>
                  <a:srgbClr val="64748B"/>
                </a:solidFill>
                <a:latin typeface="Aptos"/>
                <a:ea typeface="Aptos"/>
                <a:cs typeface="Aptos"/>
              </a:rPr>
              <a:t>Handler</a:t>
            </a:r>
          </a:p>
        </p:txBody>
      </p:sp>
      <p:sp>
        <p:nvSpPr>
          <p:cNvPr id="25" name="Rektangel 24">
            <a:extLst>
              <a:ext uri="{FF2B5EF4-FFF2-40B4-BE49-F238E27FC236}">
                <a16:creationId xmlns:a16="http://schemas.microsoft.com/office/drawing/2014/main" id="{6D7CB4CD-AAA3-432A-AB5D-F0CEB41834EE}"/>
              </a:ext>
            </a:extLst>
          </p:cNvPr>
          <p:cNvSpPr>
            <a:spLocks noGrp="1"/>
          </p:cNvSpPr>
          <p:nvPr/>
        </p:nvSpPr>
        <p:spPr>
          <a:xfrm>
            <a:off x="8858250" y="3390900"/>
            <a:ext cx="2286000" cy="819150"/>
          </a:xfrm>
          <a:prstGeom prst="rect">
            <a:avLst/>
          </a:prstGeom>
          <a:solidFill>
            <a:srgbClr val="FFFFFF"/>
          </a:solidFill>
          <a:ln w="9525">
            <a:solidFill>
              <a:srgbClr val="D8DEE8"/>
            </a:solidFill>
            <a:prstDash val="solid"/>
          </a:ln>
        </p:spPr>
        <p:txBody>
          <a:bodyPr/>
          <a:lstStyle/>
          <a:p>
            <a:endParaRPr/>
          </a:p>
        </p:txBody>
      </p:sp>
      <p:sp>
        <p:nvSpPr>
          <p:cNvPr id="26" name="Rektangel 25">
            <a:extLst>
              <a:ext uri="{FF2B5EF4-FFF2-40B4-BE49-F238E27FC236}">
                <a16:creationId xmlns:a16="http://schemas.microsoft.com/office/drawing/2014/main" id="{21EAC734-E773-4B0D-A36A-1578451D0429}"/>
              </a:ext>
            </a:extLst>
          </p:cNvPr>
          <p:cNvSpPr>
            <a:spLocks noGrp="1"/>
          </p:cNvSpPr>
          <p:nvPr/>
        </p:nvSpPr>
        <p:spPr>
          <a:xfrm>
            <a:off x="9010650" y="3562350"/>
            <a:ext cx="1981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17233D"/>
                </a:solidFill>
                <a:latin typeface="Aptos"/>
                <a:ea typeface="Aptos"/>
                <a:cs typeface="Aptos"/>
              </a:defRPr>
            </a:pPr>
            <a:r>
              <a:rPr sz="1800" b="1">
                <a:solidFill>
                  <a:srgbClr val="17233D"/>
                </a:solidFill>
                <a:latin typeface="Aptos"/>
                <a:ea typeface="Aptos"/>
                <a:cs typeface="Aptos"/>
              </a:rPr>
              <a:t>44.8%</a:t>
            </a:r>
          </a:p>
        </p:txBody>
      </p:sp>
      <p:sp>
        <p:nvSpPr>
          <p:cNvPr id="27" name="Rektangel 26">
            <a:extLst>
              <a:ext uri="{FF2B5EF4-FFF2-40B4-BE49-F238E27FC236}">
                <a16:creationId xmlns:a16="http://schemas.microsoft.com/office/drawing/2014/main" id="{F4E7C457-DF53-4522-8050-E8982B6E61E2}"/>
              </a:ext>
            </a:extLst>
          </p:cNvPr>
          <p:cNvSpPr>
            <a:spLocks noGrp="1"/>
          </p:cNvSpPr>
          <p:nvPr/>
        </p:nvSpPr>
        <p:spPr>
          <a:xfrm>
            <a:off x="9010650" y="3886200"/>
            <a:ext cx="1981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64748B"/>
                </a:solidFill>
                <a:latin typeface="Aptos"/>
                <a:ea typeface="Aptos"/>
                <a:cs typeface="Aptos"/>
              </a:defRPr>
            </a:pPr>
            <a:r>
              <a:rPr sz="750" b="0">
                <a:solidFill>
                  <a:srgbClr val="64748B"/>
                </a:solidFill>
                <a:latin typeface="Aptos"/>
                <a:ea typeface="Aptos"/>
                <a:cs typeface="Aptos"/>
              </a:rPr>
              <a:t>Gevinstrate</a:t>
            </a:r>
          </a:p>
        </p:txBody>
      </p:sp>
      <p:sp>
        <p:nvSpPr>
          <p:cNvPr id="28" name="Rektangel 27">
            <a:extLst>
              <a:ext uri="{FF2B5EF4-FFF2-40B4-BE49-F238E27FC236}">
                <a16:creationId xmlns:a16="http://schemas.microsoft.com/office/drawing/2014/main" id="{D7BF0EDD-6390-4347-91A1-EE52CAC90A89}"/>
              </a:ext>
            </a:extLst>
          </p:cNvPr>
          <p:cNvSpPr>
            <a:spLocks noGrp="1"/>
          </p:cNvSpPr>
          <p:nvPr/>
        </p:nvSpPr>
        <p:spPr>
          <a:xfrm>
            <a:off x="6286500" y="4438650"/>
            <a:ext cx="2286000" cy="819150"/>
          </a:xfrm>
          <a:prstGeom prst="rect">
            <a:avLst/>
          </a:prstGeom>
          <a:solidFill>
            <a:srgbClr val="FFFFFF"/>
          </a:solidFill>
          <a:ln w="9525">
            <a:solidFill>
              <a:srgbClr val="D8DEE8"/>
            </a:solidFill>
            <a:prstDash val="solid"/>
          </a:ln>
        </p:spPr>
        <p:txBody>
          <a:bodyPr/>
          <a:lstStyle/>
          <a:p>
            <a:endParaRPr/>
          </a:p>
        </p:txBody>
      </p:sp>
      <p:sp>
        <p:nvSpPr>
          <p:cNvPr id="29" name="Rektangel 28">
            <a:extLst>
              <a:ext uri="{FF2B5EF4-FFF2-40B4-BE49-F238E27FC236}">
                <a16:creationId xmlns:a16="http://schemas.microsoft.com/office/drawing/2014/main" id="{BE1D3E11-49C6-4A2C-A390-1680F7F78726}"/>
              </a:ext>
            </a:extLst>
          </p:cNvPr>
          <p:cNvSpPr>
            <a:spLocks noGrp="1"/>
          </p:cNvSpPr>
          <p:nvPr/>
        </p:nvSpPr>
        <p:spPr>
          <a:xfrm>
            <a:off x="6438900" y="4610100"/>
            <a:ext cx="1981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7E57C2"/>
                </a:solidFill>
                <a:latin typeface="Aptos"/>
                <a:ea typeface="Aptos"/>
                <a:cs typeface="Aptos"/>
              </a:defRPr>
            </a:pPr>
            <a:r>
              <a:rPr sz="1800" b="1">
                <a:solidFill>
                  <a:srgbClr val="7E57C2"/>
                </a:solidFill>
                <a:latin typeface="Aptos"/>
                <a:ea typeface="Aptos"/>
                <a:cs typeface="Aptos"/>
              </a:rPr>
              <a:t>6.10</a:t>
            </a:r>
          </a:p>
        </p:txBody>
      </p:sp>
      <p:sp>
        <p:nvSpPr>
          <p:cNvPr id="30" name="Rektangel 29">
            <a:extLst>
              <a:ext uri="{FF2B5EF4-FFF2-40B4-BE49-F238E27FC236}">
                <a16:creationId xmlns:a16="http://schemas.microsoft.com/office/drawing/2014/main" id="{1520C841-7689-4081-95F2-E32CD5DCD32F}"/>
              </a:ext>
            </a:extLst>
          </p:cNvPr>
          <p:cNvSpPr>
            <a:spLocks noGrp="1"/>
          </p:cNvSpPr>
          <p:nvPr/>
        </p:nvSpPr>
        <p:spPr>
          <a:xfrm>
            <a:off x="6438900" y="4933950"/>
            <a:ext cx="1981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64748B"/>
                </a:solidFill>
                <a:latin typeface="Aptos"/>
                <a:ea typeface="Aptos"/>
                <a:cs typeface="Aptos"/>
              </a:defRPr>
            </a:pPr>
            <a:r>
              <a:rPr sz="750" b="0">
                <a:solidFill>
                  <a:srgbClr val="64748B"/>
                </a:solidFill>
                <a:latin typeface="Aptos"/>
                <a:ea typeface="Aptos"/>
                <a:cs typeface="Aptos"/>
              </a:rPr>
              <a:t>Profitfaktor</a:t>
            </a:r>
          </a:p>
        </p:txBody>
      </p:sp>
      <p:sp>
        <p:nvSpPr>
          <p:cNvPr id="31" name="Rektangel 30">
            <a:extLst>
              <a:ext uri="{FF2B5EF4-FFF2-40B4-BE49-F238E27FC236}">
                <a16:creationId xmlns:a16="http://schemas.microsoft.com/office/drawing/2014/main" id="{8E6180A1-74BF-4642-B125-C9B2954CA578}"/>
              </a:ext>
            </a:extLst>
          </p:cNvPr>
          <p:cNvSpPr>
            <a:spLocks noGrp="1"/>
          </p:cNvSpPr>
          <p:nvPr/>
        </p:nvSpPr>
        <p:spPr>
          <a:xfrm>
            <a:off x="8858250" y="4438650"/>
            <a:ext cx="2286000" cy="819150"/>
          </a:xfrm>
          <a:prstGeom prst="rect">
            <a:avLst/>
          </a:prstGeom>
          <a:solidFill>
            <a:srgbClr val="FFFFFF"/>
          </a:solidFill>
          <a:ln w="9525">
            <a:solidFill>
              <a:srgbClr val="D8DEE8"/>
            </a:solidFill>
            <a:prstDash val="solid"/>
          </a:ln>
        </p:spPr>
        <p:txBody>
          <a:bodyPr/>
          <a:lstStyle/>
          <a:p>
            <a:endParaRPr/>
          </a:p>
        </p:txBody>
      </p:sp>
      <p:sp>
        <p:nvSpPr>
          <p:cNvPr id="32" name="Rektangel 31">
            <a:extLst>
              <a:ext uri="{FF2B5EF4-FFF2-40B4-BE49-F238E27FC236}">
                <a16:creationId xmlns:a16="http://schemas.microsoft.com/office/drawing/2014/main" id="{E641B8B2-9C63-439E-ADA7-F822E3CF1E6E}"/>
              </a:ext>
            </a:extLst>
          </p:cNvPr>
          <p:cNvSpPr>
            <a:spLocks noGrp="1"/>
          </p:cNvSpPr>
          <p:nvPr/>
        </p:nvSpPr>
        <p:spPr>
          <a:xfrm>
            <a:off x="9010650" y="4610100"/>
            <a:ext cx="19812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17233D"/>
                </a:solidFill>
                <a:latin typeface="Aptos"/>
                <a:ea typeface="Aptos"/>
                <a:cs typeface="Aptos"/>
              </a:defRPr>
            </a:pPr>
            <a:r>
              <a:rPr sz="1800" b="1">
                <a:solidFill>
                  <a:srgbClr val="17233D"/>
                </a:solidFill>
                <a:latin typeface="Aptos"/>
                <a:ea typeface="Aptos"/>
                <a:cs typeface="Aptos"/>
              </a:rPr>
              <a:t>71.7%</a:t>
            </a:r>
          </a:p>
        </p:txBody>
      </p:sp>
      <p:sp>
        <p:nvSpPr>
          <p:cNvPr id="33" name="Rektangel 32">
            <a:extLst>
              <a:ext uri="{FF2B5EF4-FFF2-40B4-BE49-F238E27FC236}">
                <a16:creationId xmlns:a16="http://schemas.microsoft.com/office/drawing/2014/main" id="{71CFF76A-FB20-4954-8F75-9114699375E2}"/>
              </a:ext>
            </a:extLst>
          </p:cNvPr>
          <p:cNvSpPr>
            <a:spLocks noGrp="1"/>
          </p:cNvSpPr>
          <p:nvPr/>
        </p:nvSpPr>
        <p:spPr>
          <a:xfrm>
            <a:off x="9010650" y="4933950"/>
            <a:ext cx="1981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64748B"/>
                </a:solidFill>
                <a:latin typeface="Aptos"/>
                <a:ea typeface="Aptos"/>
                <a:cs typeface="Aptos"/>
              </a:defRPr>
            </a:pPr>
            <a:r>
              <a:rPr sz="750" b="0">
                <a:solidFill>
                  <a:srgbClr val="64748B"/>
                </a:solidFill>
                <a:latin typeface="Aptos"/>
                <a:ea typeface="Aptos"/>
                <a:cs typeface="Aptos"/>
              </a:rPr>
              <a:t>Eksponeringstid</a:t>
            </a:r>
          </a:p>
        </p:txBody>
      </p:sp>
      <p:sp>
        <p:nvSpPr>
          <p:cNvPr id="34" name="Rektangel 33">
            <a:extLst>
              <a:ext uri="{FF2B5EF4-FFF2-40B4-BE49-F238E27FC236}">
                <a16:creationId xmlns:a16="http://schemas.microsoft.com/office/drawing/2014/main" id="{60B4452C-8B2B-43E3-AFA4-73ECF00E42D3}"/>
              </a:ext>
            </a:extLst>
          </p:cNvPr>
          <p:cNvSpPr>
            <a:spLocks noGrp="1"/>
          </p:cNvSpPr>
          <p:nvPr/>
        </p:nvSpPr>
        <p:spPr>
          <a:xfrm>
            <a:off x="6305550" y="6172200"/>
            <a:ext cx="48577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64748B"/>
                </a:solidFill>
                <a:latin typeface="Aptos"/>
                <a:ea typeface="Aptos"/>
                <a:cs typeface="Aptos"/>
              </a:defRPr>
            </a:pPr>
            <a:r>
              <a:rPr sz="1125" b="0">
                <a:solidFill>
                  <a:srgbClr val="64748B"/>
                </a:solidFill>
                <a:latin typeface="Aptos"/>
                <a:ea typeface="Aptos"/>
                <a:cs typeface="Aptos"/>
              </a:rPr>
              <a:t>Køb og hold viser AAPL afkastet, hvis vi havde købt AAPL aktier for $10.000 og holdt dem i hele perioden.</a:t>
            </a:r>
          </a:p>
        </p:txBody>
      </p:sp>
      <p:sp>
        <p:nvSpPr>
          <p:cNvPr id="39" name="Gns. gevinst card">
            <a:extLst>
              <a:ext uri="{FF2B5EF4-FFF2-40B4-BE49-F238E27FC236}">
                <a16:creationId xmlns:a16="http://schemas.microsoft.com/office/drawing/2014/main" id="{EA1EC1FA-79F2-4898-897B-E2C85120844E}"/>
              </a:ext>
            </a:extLst>
          </p:cNvPr>
          <p:cNvSpPr>
            <a:spLocks noGrp="1"/>
          </p:cNvSpPr>
          <p:nvPr/>
        </p:nvSpPr>
        <p:spPr>
          <a:xfrm>
            <a:off x="6286500" y="5410200"/>
            <a:ext cx="2286000" cy="723900"/>
          </a:xfrm>
          <a:prstGeom prst="rect">
            <a:avLst/>
          </a:prstGeom>
          <a:solidFill>
            <a:srgbClr val="FFFFFF"/>
          </a:solidFill>
          <a:ln w="9525">
            <a:solidFill>
              <a:srgbClr val="D8DEE8"/>
            </a:solidFill>
            <a:prstDash val="solid"/>
          </a:ln>
        </p:spPr>
        <p:txBody>
          <a:bodyPr/>
          <a:lstStyle/>
          <a:p>
            <a:endParaRPr/>
          </a:p>
        </p:txBody>
      </p:sp>
      <p:sp>
        <p:nvSpPr>
          <p:cNvPr id="40" name="Gns. gevinst value">
            <a:extLst>
              <a:ext uri="{FF2B5EF4-FFF2-40B4-BE49-F238E27FC236}">
                <a16:creationId xmlns:a16="http://schemas.microsoft.com/office/drawing/2014/main" id="{BB781D71-D5B6-4797-B2D3-F13DDBEAB88E}"/>
              </a:ext>
            </a:extLst>
          </p:cNvPr>
          <p:cNvSpPr>
            <a:spLocks noGrp="1"/>
          </p:cNvSpPr>
          <p:nvPr/>
        </p:nvSpPr>
        <p:spPr>
          <a:xfrm>
            <a:off x="6438900" y="5505450"/>
            <a:ext cx="1981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278D50"/>
                </a:solidFill>
                <a:latin typeface="Aptos"/>
                <a:ea typeface="Aptos"/>
                <a:cs typeface="Aptos"/>
              </a:defRPr>
            </a:pPr>
            <a:r>
              <a:rPr sz="1800" b="1">
                <a:solidFill>
                  <a:srgbClr val="278D50"/>
                </a:solidFill>
                <a:latin typeface="Aptos"/>
                <a:ea typeface="Aptos"/>
                <a:cs typeface="Aptos"/>
              </a:rPr>
              <a:t>21.7%</a:t>
            </a:r>
          </a:p>
        </p:txBody>
      </p:sp>
      <p:sp>
        <p:nvSpPr>
          <p:cNvPr id="41" name="Gns. gevinst label">
            <a:extLst>
              <a:ext uri="{FF2B5EF4-FFF2-40B4-BE49-F238E27FC236}">
                <a16:creationId xmlns:a16="http://schemas.microsoft.com/office/drawing/2014/main" id="{D9DD04B5-0228-4917-9410-60C877FF9CA6}"/>
              </a:ext>
            </a:extLst>
          </p:cNvPr>
          <p:cNvSpPr>
            <a:spLocks noGrp="1"/>
          </p:cNvSpPr>
          <p:nvPr/>
        </p:nvSpPr>
        <p:spPr>
          <a:xfrm>
            <a:off x="6438900" y="5772150"/>
            <a:ext cx="19812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5E6F87"/>
                </a:solidFill>
                <a:latin typeface="Aptos"/>
                <a:ea typeface="Aptos"/>
                <a:cs typeface="Aptos"/>
              </a:defRPr>
            </a:pPr>
            <a:r>
              <a:rPr sz="675" b="0">
                <a:solidFill>
                  <a:srgbClr val="5E6F87"/>
                </a:solidFill>
                <a:latin typeface="Aptos"/>
                <a:ea typeface="Aptos"/>
                <a:cs typeface="Aptos"/>
              </a:rPr>
              <a:t>Gns. gevinst</a:t>
            </a:r>
          </a:p>
        </p:txBody>
      </p:sp>
      <p:sp>
        <p:nvSpPr>
          <p:cNvPr id="7" name="Gns. tab card">
            <a:extLst>
              <a:ext uri="{FF2B5EF4-FFF2-40B4-BE49-F238E27FC236}">
                <a16:creationId xmlns:a16="http://schemas.microsoft.com/office/drawing/2014/main" id="{F9DE5110-08B5-4492-94E8-2B3A2C024B4A}"/>
              </a:ext>
            </a:extLst>
          </p:cNvPr>
          <p:cNvSpPr>
            <a:spLocks noGrp="1"/>
          </p:cNvSpPr>
          <p:nvPr/>
        </p:nvSpPr>
        <p:spPr>
          <a:xfrm>
            <a:off x="8858250" y="5410200"/>
            <a:ext cx="2286000" cy="723900"/>
          </a:xfrm>
          <a:prstGeom prst="rect">
            <a:avLst/>
          </a:prstGeom>
          <a:solidFill>
            <a:srgbClr val="FFFFFF"/>
          </a:solidFill>
          <a:ln w="9525">
            <a:solidFill>
              <a:srgbClr val="D8DEE8"/>
            </a:solidFill>
            <a:prstDash val="solid"/>
          </a:ln>
        </p:spPr>
        <p:txBody>
          <a:bodyPr/>
          <a:lstStyle/>
          <a:p>
            <a:endParaRPr/>
          </a:p>
        </p:txBody>
      </p:sp>
      <p:sp>
        <p:nvSpPr>
          <p:cNvPr id="43" name="Gns. tab value">
            <a:extLst>
              <a:ext uri="{FF2B5EF4-FFF2-40B4-BE49-F238E27FC236}">
                <a16:creationId xmlns:a16="http://schemas.microsoft.com/office/drawing/2014/main" id="{AAC36D95-327E-4619-8896-178AABF7162E}"/>
              </a:ext>
            </a:extLst>
          </p:cNvPr>
          <p:cNvSpPr>
            <a:spLocks noGrp="1"/>
          </p:cNvSpPr>
          <p:nvPr/>
        </p:nvSpPr>
        <p:spPr>
          <a:xfrm>
            <a:off x="9010650" y="5505450"/>
            <a:ext cx="19812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D94747"/>
                </a:solidFill>
                <a:latin typeface="Aptos"/>
                <a:ea typeface="Aptos"/>
                <a:cs typeface="Aptos"/>
              </a:defRPr>
            </a:pPr>
            <a:r>
              <a:rPr sz="1800" b="1">
                <a:solidFill>
                  <a:srgbClr val="D94747"/>
                </a:solidFill>
                <a:latin typeface="Aptos"/>
                <a:ea typeface="Aptos"/>
                <a:cs typeface="Aptos"/>
              </a:rPr>
              <a:t>-2.9%</a:t>
            </a:r>
          </a:p>
        </p:txBody>
      </p:sp>
      <p:sp>
        <p:nvSpPr>
          <p:cNvPr id="9" name="Gns. tab label">
            <a:extLst>
              <a:ext uri="{FF2B5EF4-FFF2-40B4-BE49-F238E27FC236}">
                <a16:creationId xmlns:a16="http://schemas.microsoft.com/office/drawing/2014/main" id="{CDA58A7B-21D5-453B-96F8-1D4AC2245509}"/>
              </a:ext>
            </a:extLst>
          </p:cNvPr>
          <p:cNvSpPr>
            <a:spLocks noGrp="1"/>
          </p:cNvSpPr>
          <p:nvPr/>
        </p:nvSpPr>
        <p:spPr>
          <a:xfrm>
            <a:off x="9010650" y="5772150"/>
            <a:ext cx="19812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5E6F87"/>
                </a:solidFill>
                <a:latin typeface="Aptos"/>
                <a:ea typeface="Aptos"/>
                <a:cs typeface="Aptos"/>
              </a:defRPr>
            </a:pPr>
            <a:r>
              <a:rPr sz="675" b="0">
                <a:solidFill>
                  <a:srgbClr val="5E6F87"/>
                </a:solidFill>
                <a:latin typeface="Aptos"/>
                <a:ea typeface="Aptos"/>
                <a:cs typeface="Aptos"/>
              </a:rPr>
              <a:t>Gns. tab</a:t>
            </a:r>
          </a:p>
        </p:txBody>
      </p:sp>
      <p:sp>
        <p:nvSpPr>
          <p:cNvPr id="47" name="Average winning PnL">
            <a:extLst>
              <a:ext uri="{FF2B5EF4-FFF2-40B4-BE49-F238E27FC236}">
                <a16:creationId xmlns:a16="http://schemas.microsoft.com/office/drawing/2014/main" id="{A4D51D9E-53E8-4A2E-AD61-C144AEB94741}"/>
              </a:ext>
            </a:extLst>
          </p:cNvPr>
          <p:cNvSpPr>
            <a:spLocks noGrp="1"/>
          </p:cNvSpPr>
          <p:nvPr/>
        </p:nvSpPr>
        <p:spPr>
          <a:xfrm>
            <a:off x="6438900" y="5915025"/>
            <a:ext cx="19812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38" b="0">
                <a:solidFill>
                  <a:srgbClr val="5E6F87"/>
                </a:solidFill>
                <a:latin typeface="Aptos"/>
                <a:ea typeface="Aptos"/>
                <a:cs typeface="Aptos"/>
              </a:defRPr>
            </a:pPr>
            <a:r>
              <a:rPr sz="638" b="0">
                <a:solidFill>
                  <a:srgbClr val="5E6F87"/>
                </a:solidFill>
                <a:latin typeface="Aptos"/>
                <a:ea typeface="Aptos"/>
                <a:cs typeface="Aptos"/>
              </a:rPr>
              <a:t>Gns. PnL: $5.2k</a:t>
            </a:r>
          </a:p>
        </p:txBody>
      </p:sp>
      <p:sp>
        <p:nvSpPr>
          <p:cNvPr id="48" name="Average losing PnL">
            <a:extLst>
              <a:ext uri="{FF2B5EF4-FFF2-40B4-BE49-F238E27FC236}">
                <a16:creationId xmlns:a16="http://schemas.microsoft.com/office/drawing/2014/main" id="{602FACDF-EBA4-4B40-9334-597B9C729F7C}"/>
              </a:ext>
            </a:extLst>
          </p:cNvPr>
          <p:cNvSpPr>
            <a:spLocks noGrp="1"/>
          </p:cNvSpPr>
          <p:nvPr/>
        </p:nvSpPr>
        <p:spPr>
          <a:xfrm>
            <a:off x="9010650" y="5915025"/>
            <a:ext cx="19812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38" b="0">
                <a:solidFill>
                  <a:srgbClr val="5E6F87"/>
                </a:solidFill>
                <a:latin typeface="Aptos"/>
                <a:ea typeface="Aptos"/>
                <a:cs typeface="Aptos"/>
              </a:defRPr>
            </a:pPr>
            <a:r>
              <a:rPr sz="638" b="0">
                <a:solidFill>
                  <a:srgbClr val="5E6F87"/>
                </a:solidFill>
                <a:latin typeface="Aptos"/>
                <a:ea typeface="Aptos"/>
                <a:cs typeface="Aptos"/>
              </a:rPr>
              <a:t>Gns. PnL: -$828</a:t>
            </a:r>
          </a:p>
        </p:txBody>
      </p:sp>
    </p:spTree>
    <p:extLst>
      <p:ext uri="{BB962C8B-B14F-4D97-AF65-F5344CB8AC3E}">
        <p14:creationId xmlns:p14="http://schemas.microsoft.com/office/powerpoint/2010/main" val="963875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ktangel 83">
            <a:extLst>
              <a:ext uri="{FF2B5EF4-FFF2-40B4-BE49-F238E27FC236}">
                <a16:creationId xmlns:a16="http://schemas.microsoft.com/office/drawing/2014/main" id="{D78F1432-6A77-416C-B71B-038C9D29F437}"/>
              </a:ext>
            </a:extLst>
          </p:cNvPr>
          <p:cNvSpPr>
            <a:spLocks noGrp="1" noRot="1" noMove="1" noResize="1" noEditPoints="1" noAdjustHandles="1" noChangeArrowheads="1" noChangeShapeType="1"/>
          </p:cNvSpPr>
          <p:nvPr/>
        </p:nvSpPr>
        <p:spPr>
          <a:xfrm>
            <a:off x="0" y="0"/>
            <a:ext cx="12192000" cy="6858000"/>
          </a:xfrm>
          <a:prstGeom prst="rect">
            <a:avLst/>
          </a:prstGeom>
          <a:solidFill>
            <a:srgbClr val="F7F5F0"/>
          </a:solidFill>
          <a:ln w="0">
            <a:solidFill>
              <a:srgbClr val="000000">
                <a:alpha val="0"/>
              </a:srgbClr>
            </a:solidFill>
            <a:prstDash val="solid"/>
          </a:ln>
        </p:spPr>
        <p:txBody>
          <a:bodyPr/>
          <a:lstStyle/>
          <a:p>
            <a:pPr>
              <a:buNone/>
            </a:pPr>
            <a:endParaRPr/>
          </a:p>
        </p:txBody>
      </p:sp>
      <p:sp>
        <p:nvSpPr>
          <p:cNvPr id="2" name="Rektangel 1">
            <a:extLst>
              <a:ext uri="{FF2B5EF4-FFF2-40B4-BE49-F238E27FC236}">
                <a16:creationId xmlns:a16="http://schemas.microsoft.com/office/drawing/2014/main" id="{B2B48D07-FA48-4B7B-98B5-4B3AD718C839}"/>
              </a:ext>
            </a:extLst>
          </p:cNvPr>
          <p:cNvSpPr>
            <a:spLocks noGrp="1"/>
          </p:cNvSpPr>
          <p:nvPr/>
        </p:nvSpPr>
        <p:spPr>
          <a:xfrm>
            <a:off x="0" y="0"/>
            <a:ext cx="12192000" cy="990600"/>
          </a:xfrm>
          <a:prstGeom prst="rect">
            <a:avLst/>
          </a:prstGeom>
          <a:solidFill>
            <a:srgbClr val="14213D"/>
          </a:solidFill>
          <a:ln w="0">
            <a:solidFill>
              <a:srgbClr val="000000">
                <a:alpha val="0"/>
              </a:srgbClr>
            </a:solidFill>
            <a:prstDash val="solid"/>
          </a:ln>
        </p:spPr>
        <p:txBody>
          <a:bodyPr/>
          <a:lstStyle/>
          <a:p>
            <a:endParaRPr/>
          </a:p>
        </p:txBody>
      </p:sp>
      <p:sp>
        <p:nvSpPr>
          <p:cNvPr id="3" name="Rektangel 2">
            <a:extLst>
              <a:ext uri="{FF2B5EF4-FFF2-40B4-BE49-F238E27FC236}">
                <a16:creationId xmlns:a16="http://schemas.microsoft.com/office/drawing/2014/main" id="{8AA05D49-D110-469E-8C40-E64B58ECAB38}"/>
              </a:ext>
            </a:extLst>
          </p:cNvPr>
          <p:cNvSpPr>
            <a:spLocks noGrp="1"/>
          </p:cNvSpPr>
          <p:nvPr/>
        </p:nvSpPr>
        <p:spPr>
          <a:xfrm>
            <a:off x="400050" y="133350"/>
            <a:ext cx="2095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7C0D4"/>
                </a:solidFill>
                <a:latin typeface="Aptos"/>
                <a:ea typeface="Aptos"/>
                <a:cs typeface="Aptos"/>
              </a:defRPr>
            </a:pPr>
            <a:r>
              <a:rPr sz="900" b="1">
                <a:solidFill>
                  <a:srgbClr val="B7C0D4"/>
                </a:solidFill>
                <a:latin typeface="Aptos"/>
                <a:ea typeface="Aptos"/>
                <a:cs typeface="Aptos"/>
              </a:rPr>
              <a:t>WALK FORWARD TEST</a:t>
            </a:r>
          </a:p>
        </p:txBody>
      </p:sp>
      <p:sp>
        <p:nvSpPr>
          <p:cNvPr id="4" name="Rektangel 3">
            <a:extLst>
              <a:ext uri="{FF2B5EF4-FFF2-40B4-BE49-F238E27FC236}">
                <a16:creationId xmlns:a16="http://schemas.microsoft.com/office/drawing/2014/main" id="{E4511824-DD0F-4E74-B450-4F3BBFE253E1}"/>
              </a:ext>
            </a:extLst>
          </p:cNvPr>
          <p:cNvSpPr>
            <a:spLocks noGrp="1"/>
          </p:cNvSpPr>
          <p:nvPr/>
        </p:nvSpPr>
        <p:spPr>
          <a:xfrm>
            <a:off x="400050" y="419100"/>
            <a:ext cx="7810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FFFFFF"/>
                </a:solidFill>
                <a:latin typeface="Aptos"/>
                <a:ea typeface="Aptos"/>
                <a:cs typeface="Aptos"/>
              </a:defRPr>
            </a:pPr>
            <a:r>
              <a:rPr sz="2100" b="1">
                <a:solidFill>
                  <a:srgbClr val="FFFFFF"/>
                </a:solidFill>
                <a:latin typeface="Aptos"/>
                <a:ea typeface="Aptos"/>
                <a:cs typeface="Aptos"/>
              </a:rPr>
              <a:t>De rullende out of sample perioder var positive i 8 ud af 9 år</a:t>
            </a:r>
          </a:p>
        </p:txBody>
      </p:sp>
      <p:sp>
        <p:nvSpPr>
          <p:cNvPr id="6" name="Rektangel 5">
            <a:extLst>
              <a:ext uri="{FF2B5EF4-FFF2-40B4-BE49-F238E27FC236}">
                <a16:creationId xmlns:a16="http://schemas.microsoft.com/office/drawing/2014/main" id="{40644636-79AF-44DD-B50C-78B34154CD0D}"/>
              </a:ext>
            </a:extLst>
          </p:cNvPr>
          <p:cNvSpPr>
            <a:spLocks noGrp="1"/>
          </p:cNvSpPr>
          <p:nvPr/>
        </p:nvSpPr>
        <p:spPr>
          <a:xfrm>
            <a:off x="495300" y="1066800"/>
            <a:ext cx="3810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64748B"/>
                </a:solidFill>
                <a:latin typeface="Aptos"/>
                <a:ea typeface="Aptos"/>
                <a:cs typeface="Aptos"/>
              </a:defRPr>
            </a:pPr>
            <a:r>
              <a:rPr sz="750" b="1">
                <a:solidFill>
                  <a:srgbClr val="64748B"/>
                </a:solidFill>
                <a:latin typeface="Aptos"/>
                <a:ea typeface="Aptos"/>
                <a:cs typeface="Aptos"/>
              </a:rPr>
              <a:t>WALK FORWARD KAPITALKURVE</a:t>
            </a:r>
          </a:p>
        </p:txBody>
      </p:sp>
      <p:pic>
        <p:nvPicPr>
          <p:cNvPr id="89" name="Billede 6"/>
          <p:cNvPicPr>
            <a:picLocks noSelect="1" noChangeAspect="1" noMove="1" noResize="1" noCrop="1"/>
          </p:cNvPicPr>
          <p:nvPr/>
        </p:nvPicPr>
        <p:blipFill>
          <a:blip r:embed="rId3"/>
          <a:stretch/>
        </p:blipFill>
        <p:spPr>
          <a:xfrm>
            <a:off x="457200" y="1331119"/>
            <a:ext cx="7096125" cy="3548063"/>
          </a:xfrm>
          <a:prstGeom prst="rect">
            <a:avLst/>
          </a:prstGeom>
        </p:spPr>
      </p:pic>
      <p:sp>
        <p:nvSpPr>
          <p:cNvPr id="8" name="Rektangel 7">
            <a:extLst>
              <a:ext uri="{FF2B5EF4-FFF2-40B4-BE49-F238E27FC236}">
                <a16:creationId xmlns:a16="http://schemas.microsoft.com/office/drawing/2014/main" id="{D2C26B67-1DBA-4257-83DC-F2123C3DD1D8}"/>
              </a:ext>
            </a:extLst>
          </p:cNvPr>
          <p:cNvSpPr>
            <a:spLocks noGrp="1"/>
          </p:cNvSpPr>
          <p:nvPr/>
        </p:nvSpPr>
        <p:spPr>
          <a:xfrm>
            <a:off x="8001000" y="1295400"/>
            <a:ext cx="1428750" cy="819150"/>
          </a:xfrm>
          <a:prstGeom prst="rect">
            <a:avLst/>
          </a:prstGeom>
          <a:solidFill>
            <a:srgbClr val="FFFFFF"/>
          </a:solidFill>
          <a:ln w="9525">
            <a:solidFill>
              <a:srgbClr val="D8DEE8"/>
            </a:solidFill>
            <a:prstDash val="solid"/>
          </a:ln>
        </p:spPr>
        <p:txBody>
          <a:bodyPr/>
          <a:lstStyle/>
          <a:p>
            <a:endParaRPr/>
          </a:p>
        </p:txBody>
      </p:sp>
      <p:sp>
        <p:nvSpPr>
          <p:cNvPr id="9" name="Rektangel 8">
            <a:extLst>
              <a:ext uri="{FF2B5EF4-FFF2-40B4-BE49-F238E27FC236}">
                <a16:creationId xmlns:a16="http://schemas.microsoft.com/office/drawing/2014/main" id="{7753D00B-2F6E-42F0-BD95-51D1F4F3E233}"/>
              </a:ext>
            </a:extLst>
          </p:cNvPr>
          <p:cNvSpPr>
            <a:spLocks noGrp="1"/>
          </p:cNvSpPr>
          <p:nvPr/>
        </p:nvSpPr>
        <p:spPr>
          <a:xfrm>
            <a:off x="8153400" y="1466850"/>
            <a:ext cx="11239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2E8B57"/>
                </a:solidFill>
                <a:latin typeface="Aptos"/>
                <a:ea typeface="Aptos"/>
                <a:cs typeface="Aptos"/>
              </a:defRPr>
            </a:pPr>
            <a:r>
              <a:rPr sz="1800" b="1">
                <a:solidFill>
                  <a:srgbClr val="2E8B57"/>
                </a:solidFill>
                <a:latin typeface="Aptos"/>
                <a:ea typeface="Aptos"/>
                <a:cs typeface="Aptos"/>
              </a:rPr>
              <a:t>378.6%</a:t>
            </a:r>
          </a:p>
        </p:txBody>
      </p:sp>
      <p:sp>
        <p:nvSpPr>
          <p:cNvPr id="10" name="Rektangel 9">
            <a:extLst>
              <a:ext uri="{FF2B5EF4-FFF2-40B4-BE49-F238E27FC236}">
                <a16:creationId xmlns:a16="http://schemas.microsoft.com/office/drawing/2014/main" id="{B5675E73-B2D2-42BC-9DD8-926929647FED}"/>
              </a:ext>
            </a:extLst>
          </p:cNvPr>
          <p:cNvSpPr>
            <a:spLocks noGrp="1"/>
          </p:cNvSpPr>
          <p:nvPr/>
        </p:nvSpPr>
        <p:spPr>
          <a:xfrm>
            <a:off x="8153400" y="1790700"/>
            <a:ext cx="1123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64748B"/>
                </a:solidFill>
                <a:latin typeface="Aptos"/>
                <a:ea typeface="Aptos"/>
                <a:cs typeface="Aptos"/>
              </a:defRPr>
            </a:pPr>
            <a:r>
              <a:rPr sz="750" b="0">
                <a:solidFill>
                  <a:srgbClr val="64748B"/>
                </a:solidFill>
                <a:latin typeface="Aptos"/>
                <a:ea typeface="Aptos"/>
                <a:cs typeface="Aptos"/>
              </a:rPr>
              <a:t>Samlet OOS afkast</a:t>
            </a:r>
          </a:p>
        </p:txBody>
      </p:sp>
      <p:sp>
        <p:nvSpPr>
          <p:cNvPr id="11" name="Rektangel 10">
            <a:extLst>
              <a:ext uri="{FF2B5EF4-FFF2-40B4-BE49-F238E27FC236}">
                <a16:creationId xmlns:a16="http://schemas.microsoft.com/office/drawing/2014/main" id="{9D072DAC-80C6-4A89-9C29-7870FDDA55FE}"/>
              </a:ext>
            </a:extLst>
          </p:cNvPr>
          <p:cNvSpPr>
            <a:spLocks noGrp="1"/>
          </p:cNvSpPr>
          <p:nvPr/>
        </p:nvSpPr>
        <p:spPr>
          <a:xfrm>
            <a:off x="9667875" y="1295400"/>
            <a:ext cx="1428750" cy="819150"/>
          </a:xfrm>
          <a:prstGeom prst="rect">
            <a:avLst/>
          </a:prstGeom>
          <a:solidFill>
            <a:srgbClr val="FFFFFF"/>
          </a:solidFill>
          <a:ln w="9525">
            <a:solidFill>
              <a:srgbClr val="D8DEE8"/>
            </a:solidFill>
            <a:prstDash val="solid"/>
          </a:ln>
        </p:spPr>
        <p:txBody>
          <a:bodyPr/>
          <a:lstStyle/>
          <a:p>
            <a:endParaRPr/>
          </a:p>
        </p:txBody>
      </p:sp>
      <p:sp>
        <p:nvSpPr>
          <p:cNvPr id="12" name="Rektangel 11">
            <a:extLst>
              <a:ext uri="{FF2B5EF4-FFF2-40B4-BE49-F238E27FC236}">
                <a16:creationId xmlns:a16="http://schemas.microsoft.com/office/drawing/2014/main" id="{38CC432C-7782-4B92-9333-27177E121733}"/>
              </a:ext>
            </a:extLst>
          </p:cNvPr>
          <p:cNvSpPr>
            <a:spLocks noGrp="1"/>
          </p:cNvSpPr>
          <p:nvPr/>
        </p:nvSpPr>
        <p:spPr>
          <a:xfrm>
            <a:off x="9820275" y="1466850"/>
            <a:ext cx="11239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2E8B57"/>
                </a:solidFill>
                <a:latin typeface="Aptos"/>
                <a:ea typeface="Aptos"/>
                <a:cs typeface="Aptos"/>
              </a:defRPr>
            </a:pPr>
            <a:r>
              <a:rPr sz="1800" b="1">
                <a:solidFill>
                  <a:srgbClr val="2E8B57"/>
                </a:solidFill>
                <a:latin typeface="Aptos"/>
                <a:ea typeface="Aptos"/>
                <a:cs typeface="Aptos"/>
              </a:rPr>
              <a:t>21.5%</a:t>
            </a:r>
          </a:p>
        </p:txBody>
      </p:sp>
      <p:sp>
        <p:nvSpPr>
          <p:cNvPr id="13" name="Rektangel 12">
            <a:extLst>
              <a:ext uri="{FF2B5EF4-FFF2-40B4-BE49-F238E27FC236}">
                <a16:creationId xmlns:a16="http://schemas.microsoft.com/office/drawing/2014/main" id="{F27C70FF-6EE6-49FA-A62E-7844C261F499}"/>
              </a:ext>
            </a:extLst>
          </p:cNvPr>
          <p:cNvSpPr>
            <a:spLocks noGrp="1"/>
          </p:cNvSpPr>
          <p:nvPr/>
        </p:nvSpPr>
        <p:spPr>
          <a:xfrm>
            <a:off x="9820275" y="1790700"/>
            <a:ext cx="1123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64748B"/>
                </a:solidFill>
                <a:latin typeface="Aptos"/>
                <a:ea typeface="Aptos"/>
                <a:cs typeface="Aptos"/>
              </a:defRPr>
            </a:pPr>
            <a:r>
              <a:rPr sz="750" b="0">
                <a:solidFill>
                  <a:srgbClr val="64748B"/>
                </a:solidFill>
                <a:latin typeface="Aptos"/>
                <a:ea typeface="Aptos"/>
                <a:cs typeface="Aptos"/>
              </a:rPr>
              <a:t>Gns. OOS periode</a:t>
            </a:r>
          </a:p>
        </p:txBody>
      </p:sp>
      <p:sp>
        <p:nvSpPr>
          <p:cNvPr id="14" name="Rektangel 13">
            <a:extLst>
              <a:ext uri="{FF2B5EF4-FFF2-40B4-BE49-F238E27FC236}">
                <a16:creationId xmlns:a16="http://schemas.microsoft.com/office/drawing/2014/main" id="{D850853B-CD26-4B54-BF9F-6C305EFC38C0}"/>
              </a:ext>
            </a:extLst>
          </p:cNvPr>
          <p:cNvSpPr>
            <a:spLocks noGrp="1"/>
          </p:cNvSpPr>
          <p:nvPr/>
        </p:nvSpPr>
        <p:spPr>
          <a:xfrm>
            <a:off x="8001000" y="2343150"/>
            <a:ext cx="1428750" cy="819150"/>
          </a:xfrm>
          <a:prstGeom prst="rect">
            <a:avLst/>
          </a:prstGeom>
          <a:solidFill>
            <a:srgbClr val="FFFFFF"/>
          </a:solidFill>
          <a:ln w="9525">
            <a:solidFill>
              <a:srgbClr val="D8DEE8"/>
            </a:solidFill>
            <a:prstDash val="solid"/>
          </a:ln>
        </p:spPr>
        <p:txBody>
          <a:bodyPr/>
          <a:lstStyle/>
          <a:p>
            <a:endParaRPr/>
          </a:p>
        </p:txBody>
      </p:sp>
      <p:sp>
        <p:nvSpPr>
          <p:cNvPr id="15" name="Rektangel 14">
            <a:extLst>
              <a:ext uri="{FF2B5EF4-FFF2-40B4-BE49-F238E27FC236}">
                <a16:creationId xmlns:a16="http://schemas.microsoft.com/office/drawing/2014/main" id="{282F89C1-97F4-4C8E-97D4-71B04638BEE5}"/>
              </a:ext>
            </a:extLst>
          </p:cNvPr>
          <p:cNvSpPr>
            <a:spLocks noGrp="1"/>
          </p:cNvSpPr>
          <p:nvPr/>
        </p:nvSpPr>
        <p:spPr>
          <a:xfrm>
            <a:off x="8153400" y="2514600"/>
            <a:ext cx="11239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7E57C2"/>
                </a:solidFill>
                <a:latin typeface="Aptos"/>
                <a:ea typeface="Aptos"/>
                <a:cs typeface="Aptos"/>
              </a:defRPr>
            </a:pPr>
            <a:r>
              <a:rPr sz="1800" b="1">
                <a:solidFill>
                  <a:srgbClr val="7E57C2"/>
                </a:solidFill>
                <a:latin typeface="Aptos"/>
                <a:ea typeface="Aptos"/>
                <a:cs typeface="Aptos"/>
              </a:rPr>
              <a:t>8 / 9</a:t>
            </a:r>
          </a:p>
        </p:txBody>
      </p:sp>
      <p:sp>
        <p:nvSpPr>
          <p:cNvPr id="16" name="Rektangel 15">
            <a:extLst>
              <a:ext uri="{FF2B5EF4-FFF2-40B4-BE49-F238E27FC236}">
                <a16:creationId xmlns:a16="http://schemas.microsoft.com/office/drawing/2014/main" id="{B612DDF8-6496-4821-A1D8-3AC062D4E33D}"/>
              </a:ext>
            </a:extLst>
          </p:cNvPr>
          <p:cNvSpPr>
            <a:spLocks noGrp="1"/>
          </p:cNvSpPr>
          <p:nvPr/>
        </p:nvSpPr>
        <p:spPr>
          <a:xfrm>
            <a:off x="8153400" y="2838450"/>
            <a:ext cx="1123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64748B"/>
                </a:solidFill>
                <a:latin typeface="Aptos"/>
                <a:ea typeface="Aptos"/>
                <a:cs typeface="Aptos"/>
              </a:defRPr>
            </a:pPr>
            <a:r>
              <a:rPr sz="750" b="0">
                <a:solidFill>
                  <a:srgbClr val="64748B"/>
                </a:solidFill>
                <a:latin typeface="Aptos"/>
                <a:ea typeface="Aptos"/>
                <a:cs typeface="Aptos"/>
              </a:rPr>
              <a:t>Positive perioder</a:t>
            </a:r>
          </a:p>
        </p:txBody>
      </p:sp>
      <p:sp>
        <p:nvSpPr>
          <p:cNvPr id="17" name="Rektangel 16">
            <a:extLst>
              <a:ext uri="{FF2B5EF4-FFF2-40B4-BE49-F238E27FC236}">
                <a16:creationId xmlns:a16="http://schemas.microsoft.com/office/drawing/2014/main" id="{600F2F70-A60D-46FB-AB8D-200D7EDF22B4}"/>
              </a:ext>
            </a:extLst>
          </p:cNvPr>
          <p:cNvSpPr>
            <a:spLocks noGrp="1"/>
          </p:cNvSpPr>
          <p:nvPr/>
        </p:nvSpPr>
        <p:spPr>
          <a:xfrm>
            <a:off x="9667875" y="2343150"/>
            <a:ext cx="1428750" cy="819150"/>
          </a:xfrm>
          <a:prstGeom prst="rect">
            <a:avLst/>
          </a:prstGeom>
          <a:solidFill>
            <a:srgbClr val="FFFFFF"/>
          </a:solidFill>
          <a:ln w="9525">
            <a:solidFill>
              <a:srgbClr val="D8DEE8"/>
            </a:solidFill>
            <a:prstDash val="solid"/>
          </a:ln>
        </p:spPr>
        <p:txBody>
          <a:bodyPr/>
          <a:lstStyle/>
          <a:p>
            <a:endParaRPr/>
          </a:p>
        </p:txBody>
      </p:sp>
      <p:sp>
        <p:nvSpPr>
          <p:cNvPr id="18" name="Rektangel 17">
            <a:extLst>
              <a:ext uri="{FF2B5EF4-FFF2-40B4-BE49-F238E27FC236}">
                <a16:creationId xmlns:a16="http://schemas.microsoft.com/office/drawing/2014/main" id="{9F97C40D-DD8F-4C38-989C-3DE2903C077D}"/>
              </a:ext>
            </a:extLst>
          </p:cNvPr>
          <p:cNvSpPr>
            <a:spLocks noGrp="1"/>
          </p:cNvSpPr>
          <p:nvPr/>
        </p:nvSpPr>
        <p:spPr>
          <a:xfrm>
            <a:off x="9820275" y="2514600"/>
            <a:ext cx="11239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D64F4F"/>
                </a:solidFill>
                <a:latin typeface="Aptos"/>
                <a:ea typeface="Aptos"/>
                <a:cs typeface="Aptos"/>
              </a:defRPr>
            </a:pPr>
            <a:r>
              <a:rPr sz="1800" b="1">
                <a:solidFill>
                  <a:srgbClr val="D64F4F"/>
                </a:solidFill>
                <a:latin typeface="Aptos"/>
                <a:ea typeface="Aptos"/>
                <a:cs typeface="Aptos"/>
              </a:rPr>
              <a:t>-27.5%</a:t>
            </a:r>
          </a:p>
        </p:txBody>
      </p:sp>
      <p:sp>
        <p:nvSpPr>
          <p:cNvPr id="19" name="Rektangel 18">
            <a:extLst>
              <a:ext uri="{FF2B5EF4-FFF2-40B4-BE49-F238E27FC236}">
                <a16:creationId xmlns:a16="http://schemas.microsoft.com/office/drawing/2014/main" id="{9C670F3F-D678-48B3-8E57-1F9844EFBFD3}"/>
              </a:ext>
            </a:extLst>
          </p:cNvPr>
          <p:cNvSpPr>
            <a:spLocks noGrp="1"/>
          </p:cNvSpPr>
          <p:nvPr/>
        </p:nvSpPr>
        <p:spPr>
          <a:xfrm>
            <a:off x="9820275" y="2838450"/>
            <a:ext cx="1123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64748B"/>
                </a:solidFill>
                <a:latin typeface="Aptos"/>
                <a:ea typeface="Aptos"/>
                <a:cs typeface="Aptos"/>
              </a:defRPr>
            </a:pPr>
            <a:r>
              <a:rPr sz="750" b="0">
                <a:solidFill>
                  <a:srgbClr val="64748B"/>
                </a:solidFill>
                <a:latin typeface="Aptos"/>
                <a:ea typeface="Aptos"/>
                <a:cs typeface="Aptos"/>
              </a:rPr>
              <a:t>Dårligste periode</a:t>
            </a:r>
          </a:p>
        </p:txBody>
      </p:sp>
      <p:sp>
        <p:nvSpPr>
          <p:cNvPr id="20" name="Rektangel 19">
            <a:extLst>
              <a:ext uri="{FF2B5EF4-FFF2-40B4-BE49-F238E27FC236}">
                <a16:creationId xmlns:a16="http://schemas.microsoft.com/office/drawing/2014/main" id="{978FDF8E-5846-42E9-997A-6671C8A83878}"/>
              </a:ext>
            </a:extLst>
          </p:cNvPr>
          <p:cNvSpPr>
            <a:spLocks noGrp="1"/>
          </p:cNvSpPr>
          <p:nvPr/>
        </p:nvSpPr>
        <p:spPr>
          <a:xfrm>
            <a:off x="8096250" y="3524250"/>
            <a:ext cx="3810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64748B"/>
                </a:solidFill>
                <a:latin typeface="Aptos"/>
                <a:ea typeface="Aptos"/>
                <a:cs typeface="Aptos"/>
              </a:defRPr>
            </a:pPr>
            <a:r>
              <a:rPr sz="750" b="1">
                <a:solidFill>
                  <a:srgbClr val="64748B"/>
                </a:solidFill>
                <a:latin typeface="Aptos"/>
                <a:ea typeface="Aptos"/>
                <a:cs typeface="Aptos"/>
              </a:rPr>
              <a:t>RESULTATER FOR ALLE PERIODER</a:t>
            </a:r>
          </a:p>
        </p:txBody>
      </p:sp>
      <p:sp>
        <p:nvSpPr>
          <p:cNvPr id="21" name="Rektangel 20">
            <a:extLst>
              <a:ext uri="{FF2B5EF4-FFF2-40B4-BE49-F238E27FC236}">
                <a16:creationId xmlns:a16="http://schemas.microsoft.com/office/drawing/2014/main" id="{D5F3D002-03B8-45C5-9123-C1909603354B}"/>
              </a:ext>
            </a:extLst>
          </p:cNvPr>
          <p:cNvSpPr>
            <a:spLocks noGrp="1"/>
          </p:cNvSpPr>
          <p:nvPr/>
        </p:nvSpPr>
        <p:spPr>
          <a:xfrm>
            <a:off x="8096250" y="3714750"/>
            <a:ext cx="2464213" cy="2638425"/>
          </a:xfrm>
          <a:prstGeom prst="rect">
            <a:avLst/>
          </a:prstGeom>
          <a:solidFill>
            <a:srgbClr val="FFFFFF"/>
          </a:solidFill>
          <a:ln w="9525">
            <a:solidFill>
              <a:srgbClr val="D8DEE8"/>
            </a:solidFill>
            <a:prstDash val="solid"/>
          </a:ln>
        </p:spPr>
        <p:txBody>
          <a:bodyPr/>
          <a:lstStyle/>
          <a:p>
            <a:endParaRPr/>
          </a:p>
        </p:txBody>
      </p:sp>
      <p:sp>
        <p:nvSpPr>
          <p:cNvPr id="22" name="Rektangel 21">
            <a:extLst>
              <a:ext uri="{FF2B5EF4-FFF2-40B4-BE49-F238E27FC236}">
                <a16:creationId xmlns:a16="http://schemas.microsoft.com/office/drawing/2014/main" id="{0E9F516B-7947-4F03-9FAB-47DD00FB05FA}"/>
              </a:ext>
            </a:extLst>
          </p:cNvPr>
          <p:cNvSpPr>
            <a:spLocks noGrp="1"/>
          </p:cNvSpPr>
          <p:nvPr/>
        </p:nvSpPr>
        <p:spPr>
          <a:xfrm>
            <a:off x="8143875" y="3810000"/>
            <a:ext cx="666750" cy="190500"/>
          </a:xfrm>
          <a:prstGeom prst="rect">
            <a:avLst/>
          </a:prstGeom>
          <a:solidFill>
            <a:srgbClr val="14213D"/>
          </a:solidFill>
          <a:ln w="0">
            <a:solidFill>
              <a:srgbClr val="000000">
                <a:alpha val="0"/>
              </a:srgbClr>
            </a:solidFill>
            <a:prstDash val="solid"/>
          </a:ln>
        </p:spPr>
        <p:txBody>
          <a:bodyPr/>
          <a:lstStyle/>
          <a:p>
            <a:endParaRPr/>
          </a:p>
        </p:txBody>
      </p:sp>
      <p:sp>
        <p:nvSpPr>
          <p:cNvPr id="23" name="Rektangel 22">
            <a:extLst>
              <a:ext uri="{FF2B5EF4-FFF2-40B4-BE49-F238E27FC236}">
                <a16:creationId xmlns:a16="http://schemas.microsoft.com/office/drawing/2014/main" id="{B8A566B4-5D98-4DE1-AA78-CA72A4694A62}"/>
              </a:ext>
            </a:extLst>
          </p:cNvPr>
          <p:cNvSpPr>
            <a:spLocks noGrp="1"/>
          </p:cNvSpPr>
          <p:nvPr/>
        </p:nvSpPr>
        <p:spPr>
          <a:xfrm>
            <a:off x="8181975" y="3848100"/>
            <a:ext cx="5905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FFFFFF"/>
                </a:solidFill>
                <a:latin typeface="Aptos"/>
                <a:ea typeface="Aptos"/>
                <a:cs typeface="Aptos"/>
              </a:defRPr>
            </a:pPr>
            <a:r>
              <a:rPr sz="675" b="1">
                <a:solidFill>
                  <a:srgbClr val="FFFFFF"/>
                </a:solidFill>
                <a:latin typeface="Aptos"/>
                <a:ea typeface="Aptos"/>
                <a:cs typeface="Aptos"/>
              </a:rPr>
              <a:t>År</a:t>
            </a:r>
          </a:p>
        </p:txBody>
      </p:sp>
      <p:sp>
        <p:nvSpPr>
          <p:cNvPr id="24" name="Rektangel 23">
            <a:extLst>
              <a:ext uri="{FF2B5EF4-FFF2-40B4-BE49-F238E27FC236}">
                <a16:creationId xmlns:a16="http://schemas.microsoft.com/office/drawing/2014/main" id="{F7E019FD-3EDC-430B-AEFF-C828B4A27E77}"/>
              </a:ext>
            </a:extLst>
          </p:cNvPr>
          <p:cNvSpPr>
            <a:spLocks noGrp="1"/>
          </p:cNvSpPr>
          <p:nvPr/>
        </p:nvSpPr>
        <p:spPr>
          <a:xfrm>
            <a:off x="8905875" y="3810000"/>
            <a:ext cx="876300" cy="190500"/>
          </a:xfrm>
          <a:prstGeom prst="rect">
            <a:avLst/>
          </a:prstGeom>
          <a:solidFill>
            <a:srgbClr val="14213D"/>
          </a:solidFill>
          <a:ln w="0">
            <a:solidFill>
              <a:srgbClr val="000000">
                <a:alpha val="0"/>
              </a:srgbClr>
            </a:solidFill>
            <a:prstDash val="solid"/>
          </a:ln>
        </p:spPr>
        <p:txBody>
          <a:bodyPr/>
          <a:lstStyle/>
          <a:p>
            <a:endParaRPr/>
          </a:p>
        </p:txBody>
      </p:sp>
      <p:sp>
        <p:nvSpPr>
          <p:cNvPr id="25" name="Rektangel 24">
            <a:extLst>
              <a:ext uri="{FF2B5EF4-FFF2-40B4-BE49-F238E27FC236}">
                <a16:creationId xmlns:a16="http://schemas.microsoft.com/office/drawing/2014/main" id="{445616FC-5A30-4452-B406-1232C6FC019A}"/>
              </a:ext>
            </a:extLst>
          </p:cNvPr>
          <p:cNvSpPr>
            <a:spLocks noGrp="1"/>
          </p:cNvSpPr>
          <p:nvPr/>
        </p:nvSpPr>
        <p:spPr>
          <a:xfrm>
            <a:off x="8943975" y="3848100"/>
            <a:ext cx="800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FFFFFF"/>
                </a:solidFill>
                <a:latin typeface="Aptos"/>
                <a:ea typeface="Aptos"/>
                <a:cs typeface="Aptos"/>
              </a:defRPr>
            </a:pPr>
            <a:r>
              <a:rPr sz="675" b="1">
                <a:solidFill>
                  <a:srgbClr val="FFFFFF"/>
                </a:solidFill>
                <a:latin typeface="Aptos"/>
                <a:ea typeface="Aptos"/>
                <a:cs typeface="Aptos"/>
              </a:rPr>
              <a:t>Afkast</a:t>
            </a:r>
          </a:p>
        </p:txBody>
      </p:sp>
      <p:sp>
        <p:nvSpPr>
          <p:cNvPr id="26" name="Rektangel 25">
            <a:extLst>
              <a:ext uri="{FF2B5EF4-FFF2-40B4-BE49-F238E27FC236}">
                <a16:creationId xmlns:a16="http://schemas.microsoft.com/office/drawing/2014/main" id="{6261DFA0-532F-45CE-BF76-6C244E1ADD19}"/>
              </a:ext>
            </a:extLst>
          </p:cNvPr>
          <p:cNvSpPr>
            <a:spLocks noGrp="1"/>
          </p:cNvSpPr>
          <p:nvPr/>
        </p:nvSpPr>
        <p:spPr>
          <a:xfrm>
            <a:off x="9906000" y="3810000"/>
            <a:ext cx="571500" cy="190500"/>
          </a:xfrm>
          <a:prstGeom prst="rect">
            <a:avLst/>
          </a:prstGeom>
          <a:solidFill>
            <a:srgbClr val="14213D"/>
          </a:solidFill>
          <a:ln w="0">
            <a:solidFill>
              <a:srgbClr val="000000">
                <a:alpha val="0"/>
              </a:srgbClr>
            </a:solidFill>
            <a:prstDash val="solid"/>
          </a:ln>
        </p:spPr>
        <p:txBody>
          <a:bodyPr/>
          <a:lstStyle/>
          <a:p>
            <a:endParaRPr/>
          </a:p>
        </p:txBody>
      </p:sp>
      <p:sp>
        <p:nvSpPr>
          <p:cNvPr id="27" name="Rektangel 26">
            <a:extLst>
              <a:ext uri="{FF2B5EF4-FFF2-40B4-BE49-F238E27FC236}">
                <a16:creationId xmlns:a16="http://schemas.microsoft.com/office/drawing/2014/main" id="{AC48EE5B-F754-4A65-A00A-AFCC8F64DCD5}"/>
              </a:ext>
            </a:extLst>
          </p:cNvPr>
          <p:cNvSpPr>
            <a:spLocks noGrp="1"/>
          </p:cNvSpPr>
          <p:nvPr/>
        </p:nvSpPr>
        <p:spPr>
          <a:xfrm>
            <a:off x="9944100" y="3848100"/>
            <a:ext cx="495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FFFFFF"/>
                </a:solidFill>
                <a:latin typeface="Aptos"/>
                <a:ea typeface="Aptos"/>
                <a:cs typeface="Aptos"/>
              </a:defRPr>
            </a:pPr>
            <a:r>
              <a:rPr sz="675" b="1">
                <a:solidFill>
                  <a:srgbClr val="FFFFFF"/>
                </a:solidFill>
                <a:latin typeface="Aptos"/>
                <a:ea typeface="Aptos"/>
                <a:cs typeface="Aptos"/>
              </a:rPr>
              <a:t>Handler</a:t>
            </a:r>
          </a:p>
        </p:txBody>
      </p:sp>
      <p:sp>
        <p:nvSpPr>
          <p:cNvPr id="28" name="Rektangel 27">
            <a:extLst>
              <a:ext uri="{FF2B5EF4-FFF2-40B4-BE49-F238E27FC236}">
                <a16:creationId xmlns:a16="http://schemas.microsoft.com/office/drawing/2014/main" id="{6E96DD7D-68D8-4E6E-B322-B33FD26C70D8}"/>
              </a:ext>
            </a:extLst>
          </p:cNvPr>
          <p:cNvSpPr>
            <a:spLocks noGrp="1"/>
          </p:cNvSpPr>
          <p:nvPr/>
        </p:nvSpPr>
        <p:spPr>
          <a:xfrm>
            <a:off x="8143875" y="4029075"/>
            <a:ext cx="666750" cy="209550"/>
          </a:xfrm>
          <a:prstGeom prst="rect">
            <a:avLst/>
          </a:prstGeom>
          <a:solidFill>
            <a:srgbClr val="F3F5F8"/>
          </a:solidFill>
          <a:ln w="0">
            <a:solidFill>
              <a:srgbClr val="000000">
                <a:alpha val="0"/>
              </a:srgbClr>
            </a:solidFill>
            <a:prstDash val="solid"/>
          </a:ln>
        </p:spPr>
        <p:txBody>
          <a:bodyPr/>
          <a:lstStyle/>
          <a:p>
            <a:endParaRPr/>
          </a:p>
        </p:txBody>
      </p:sp>
      <p:sp>
        <p:nvSpPr>
          <p:cNvPr id="29" name="Rektangel 28">
            <a:extLst>
              <a:ext uri="{FF2B5EF4-FFF2-40B4-BE49-F238E27FC236}">
                <a16:creationId xmlns:a16="http://schemas.microsoft.com/office/drawing/2014/main" id="{33EA49D6-C656-413E-A47B-55BC00FE2A90}"/>
              </a:ext>
            </a:extLst>
          </p:cNvPr>
          <p:cNvSpPr>
            <a:spLocks noGrp="1"/>
          </p:cNvSpPr>
          <p:nvPr/>
        </p:nvSpPr>
        <p:spPr>
          <a:xfrm>
            <a:off x="8181975" y="4067175"/>
            <a:ext cx="5905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2017</a:t>
            </a:r>
          </a:p>
        </p:txBody>
      </p:sp>
      <p:sp>
        <p:nvSpPr>
          <p:cNvPr id="30" name="Rektangel 29">
            <a:extLst>
              <a:ext uri="{FF2B5EF4-FFF2-40B4-BE49-F238E27FC236}">
                <a16:creationId xmlns:a16="http://schemas.microsoft.com/office/drawing/2014/main" id="{50FA485D-8774-43FF-B108-0FBFACB13B98}"/>
              </a:ext>
            </a:extLst>
          </p:cNvPr>
          <p:cNvSpPr>
            <a:spLocks noGrp="1"/>
          </p:cNvSpPr>
          <p:nvPr/>
        </p:nvSpPr>
        <p:spPr>
          <a:xfrm>
            <a:off x="8905875" y="4029075"/>
            <a:ext cx="876300" cy="209550"/>
          </a:xfrm>
          <a:prstGeom prst="rect">
            <a:avLst/>
          </a:prstGeom>
          <a:solidFill>
            <a:srgbClr val="F3F5F8"/>
          </a:solidFill>
          <a:ln w="0">
            <a:solidFill>
              <a:srgbClr val="000000">
                <a:alpha val="0"/>
              </a:srgbClr>
            </a:solidFill>
            <a:prstDash val="solid"/>
          </a:ln>
        </p:spPr>
        <p:txBody>
          <a:bodyPr/>
          <a:lstStyle/>
          <a:p>
            <a:endParaRPr/>
          </a:p>
        </p:txBody>
      </p:sp>
      <p:sp>
        <p:nvSpPr>
          <p:cNvPr id="31" name="Rektangel 30">
            <a:extLst>
              <a:ext uri="{FF2B5EF4-FFF2-40B4-BE49-F238E27FC236}">
                <a16:creationId xmlns:a16="http://schemas.microsoft.com/office/drawing/2014/main" id="{BEF83930-DD78-4F7C-811F-9959D6CF5A65}"/>
              </a:ext>
            </a:extLst>
          </p:cNvPr>
          <p:cNvSpPr>
            <a:spLocks noGrp="1"/>
          </p:cNvSpPr>
          <p:nvPr/>
        </p:nvSpPr>
        <p:spPr>
          <a:xfrm>
            <a:off x="8943975" y="4067175"/>
            <a:ext cx="800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45.6%</a:t>
            </a:r>
          </a:p>
        </p:txBody>
      </p:sp>
      <p:sp>
        <p:nvSpPr>
          <p:cNvPr id="32" name="Rektangel 31">
            <a:extLst>
              <a:ext uri="{FF2B5EF4-FFF2-40B4-BE49-F238E27FC236}">
                <a16:creationId xmlns:a16="http://schemas.microsoft.com/office/drawing/2014/main" id="{492CD9D0-D90E-4CD4-81CF-B24AD8844482}"/>
              </a:ext>
            </a:extLst>
          </p:cNvPr>
          <p:cNvSpPr>
            <a:spLocks noGrp="1"/>
          </p:cNvSpPr>
          <p:nvPr/>
        </p:nvSpPr>
        <p:spPr>
          <a:xfrm>
            <a:off x="9906000" y="4029075"/>
            <a:ext cx="571500" cy="209550"/>
          </a:xfrm>
          <a:prstGeom prst="rect">
            <a:avLst/>
          </a:prstGeom>
          <a:solidFill>
            <a:srgbClr val="F3F5F8"/>
          </a:solidFill>
          <a:ln w="0">
            <a:solidFill>
              <a:srgbClr val="000000">
                <a:alpha val="0"/>
              </a:srgbClr>
            </a:solidFill>
            <a:prstDash val="solid"/>
          </a:ln>
        </p:spPr>
        <p:txBody>
          <a:bodyPr/>
          <a:lstStyle/>
          <a:p>
            <a:endParaRPr/>
          </a:p>
        </p:txBody>
      </p:sp>
      <p:sp>
        <p:nvSpPr>
          <p:cNvPr id="33" name="Rektangel 32">
            <a:extLst>
              <a:ext uri="{FF2B5EF4-FFF2-40B4-BE49-F238E27FC236}">
                <a16:creationId xmlns:a16="http://schemas.microsoft.com/office/drawing/2014/main" id="{9B08038F-CC26-45E7-8EEC-3BADFE042A69}"/>
              </a:ext>
            </a:extLst>
          </p:cNvPr>
          <p:cNvSpPr>
            <a:spLocks noGrp="1"/>
          </p:cNvSpPr>
          <p:nvPr/>
        </p:nvSpPr>
        <p:spPr>
          <a:xfrm>
            <a:off x="9944100" y="4067175"/>
            <a:ext cx="495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1</a:t>
            </a:r>
          </a:p>
        </p:txBody>
      </p:sp>
      <p:sp>
        <p:nvSpPr>
          <p:cNvPr id="34" name="Rektangel 33">
            <a:extLst>
              <a:ext uri="{FF2B5EF4-FFF2-40B4-BE49-F238E27FC236}">
                <a16:creationId xmlns:a16="http://schemas.microsoft.com/office/drawing/2014/main" id="{73EA9956-EEC3-4BC1-9E93-DBBB5E296387}"/>
              </a:ext>
            </a:extLst>
          </p:cNvPr>
          <p:cNvSpPr>
            <a:spLocks noGrp="1"/>
          </p:cNvSpPr>
          <p:nvPr/>
        </p:nvSpPr>
        <p:spPr>
          <a:xfrm>
            <a:off x="8143875" y="4248150"/>
            <a:ext cx="666750" cy="209550"/>
          </a:xfrm>
          <a:prstGeom prst="rect">
            <a:avLst/>
          </a:prstGeom>
          <a:solidFill>
            <a:srgbClr val="FFFFFF"/>
          </a:solidFill>
          <a:ln w="0">
            <a:solidFill>
              <a:srgbClr val="000000">
                <a:alpha val="0"/>
              </a:srgbClr>
            </a:solidFill>
            <a:prstDash val="solid"/>
          </a:ln>
        </p:spPr>
        <p:txBody>
          <a:bodyPr/>
          <a:lstStyle/>
          <a:p>
            <a:endParaRPr/>
          </a:p>
        </p:txBody>
      </p:sp>
      <p:sp>
        <p:nvSpPr>
          <p:cNvPr id="35" name="Rektangel 34">
            <a:extLst>
              <a:ext uri="{FF2B5EF4-FFF2-40B4-BE49-F238E27FC236}">
                <a16:creationId xmlns:a16="http://schemas.microsoft.com/office/drawing/2014/main" id="{980482F2-9368-40F0-9CA8-E2DBC474C39B}"/>
              </a:ext>
            </a:extLst>
          </p:cNvPr>
          <p:cNvSpPr>
            <a:spLocks noGrp="1"/>
          </p:cNvSpPr>
          <p:nvPr/>
        </p:nvSpPr>
        <p:spPr>
          <a:xfrm>
            <a:off x="8181975" y="4286250"/>
            <a:ext cx="5905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2018</a:t>
            </a:r>
          </a:p>
        </p:txBody>
      </p:sp>
      <p:sp>
        <p:nvSpPr>
          <p:cNvPr id="36" name="Rektangel 35">
            <a:extLst>
              <a:ext uri="{FF2B5EF4-FFF2-40B4-BE49-F238E27FC236}">
                <a16:creationId xmlns:a16="http://schemas.microsoft.com/office/drawing/2014/main" id="{826995E4-4BD8-4999-A496-B3A2BF745AB3}"/>
              </a:ext>
            </a:extLst>
          </p:cNvPr>
          <p:cNvSpPr>
            <a:spLocks noGrp="1"/>
          </p:cNvSpPr>
          <p:nvPr/>
        </p:nvSpPr>
        <p:spPr>
          <a:xfrm>
            <a:off x="8905875" y="4248150"/>
            <a:ext cx="876300" cy="209550"/>
          </a:xfrm>
          <a:prstGeom prst="rect">
            <a:avLst/>
          </a:prstGeom>
          <a:solidFill>
            <a:srgbClr val="FFFFFF"/>
          </a:solidFill>
          <a:ln w="0">
            <a:solidFill>
              <a:srgbClr val="000000">
                <a:alpha val="0"/>
              </a:srgbClr>
            </a:solidFill>
            <a:prstDash val="solid"/>
          </a:ln>
        </p:spPr>
        <p:txBody>
          <a:bodyPr/>
          <a:lstStyle/>
          <a:p>
            <a:endParaRPr/>
          </a:p>
        </p:txBody>
      </p:sp>
      <p:sp>
        <p:nvSpPr>
          <p:cNvPr id="37" name="Rektangel 36">
            <a:extLst>
              <a:ext uri="{FF2B5EF4-FFF2-40B4-BE49-F238E27FC236}">
                <a16:creationId xmlns:a16="http://schemas.microsoft.com/office/drawing/2014/main" id="{F2522527-B26F-4C9D-94E8-7A2D253CCA38}"/>
              </a:ext>
            </a:extLst>
          </p:cNvPr>
          <p:cNvSpPr>
            <a:spLocks noGrp="1"/>
          </p:cNvSpPr>
          <p:nvPr/>
        </p:nvSpPr>
        <p:spPr>
          <a:xfrm>
            <a:off x="8943975" y="4286250"/>
            <a:ext cx="800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2.0%</a:t>
            </a:r>
          </a:p>
        </p:txBody>
      </p:sp>
      <p:sp>
        <p:nvSpPr>
          <p:cNvPr id="38" name="Rektangel 37">
            <a:extLst>
              <a:ext uri="{FF2B5EF4-FFF2-40B4-BE49-F238E27FC236}">
                <a16:creationId xmlns:a16="http://schemas.microsoft.com/office/drawing/2014/main" id="{DC99CE1A-C301-45EA-9376-9675C00A40C9}"/>
              </a:ext>
            </a:extLst>
          </p:cNvPr>
          <p:cNvSpPr>
            <a:spLocks noGrp="1"/>
          </p:cNvSpPr>
          <p:nvPr/>
        </p:nvSpPr>
        <p:spPr>
          <a:xfrm>
            <a:off x="9906000" y="4248150"/>
            <a:ext cx="571500" cy="209550"/>
          </a:xfrm>
          <a:prstGeom prst="rect">
            <a:avLst/>
          </a:prstGeom>
          <a:solidFill>
            <a:srgbClr val="FFFFFF"/>
          </a:solidFill>
          <a:ln w="0">
            <a:solidFill>
              <a:srgbClr val="000000">
                <a:alpha val="0"/>
              </a:srgbClr>
            </a:solidFill>
            <a:prstDash val="solid"/>
          </a:ln>
        </p:spPr>
        <p:txBody>
          <a:bodyPr/>
          <a:lstStyle/>
          <a:p>
            <a:endParaRPr/>
          </a:p>
        </p:txBody>
      </p:sp>
      <p:sp>
        <p:nvSpPr>
          <p:cNvPr id="39" name="Rektangel 38">
            <a:extLst>
              <a:ext uri="{FF2B5EF4-FFF2-40B4-BE49-F238E27FC236}">
                <a16:creationId xmlns:a16="http://schemas.microsoft.com/office/drawing/2014/main" id="{12594B60-DA4C-4957-BA5A-C851E6198220}"/>
              </a:ext>
            </a:extLst>
          </p:cNvPr>
          <p:cNvSpPr>
            <a:spLocks noGrp="1"/>
          </p:cNvSpPr>
          <p:nvPr/>
        </p:nvSpPr>
        <p:spPr>
          <a:xfrm>
            <a:off x="9944100" y="4286250"/>
            <a:ext cx="495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4</a:t>
            </a:r>
          </a:p>
        </p:txBody>
      </p:sp>
      <p:sp>
        <p:nvSpPr>
          <p:cNvPr id="40" name="Rektangel 39">
            <a:extLst>
              <a:ext uri="{FF2B5EF4-FFF2-40B4-BE49-F238E27FC236}">
                <a16:creationId xmlns:a16="http://schemas.microsoft.com/office/drawing/2014/main" id="{E82111C9-EC88-4B10-8976-F7F9F20BCF86}"/>
              </a:ext>
            </a:extLst>
          </p:cNvPr>
          <p:cNvSpPr>
            <a:spLocks noGrp="1"/>
          </p:cNvSpPr>
          <p:nvPr/>
        </p:nvSpPr>
        <p:spPr>
          <a:xfrm>
            <a:off x="8143875" y="4467225"/>
            <a:ext cx="666750" cy="209550"/>
          </a:xfrm>
          <a:prstGeom prst="rect">
            <a:avLst/>
          </a:prstGeom>
          <a:solidFill>
            <a:srgbClr val="F3F5F8"/>
          </a:solidFill>
          <a:ln w="0">
            <a:solidFill>
              <a:srgbClr val="000000">
                <a:alpha val="0"/>
              </a:srgbClr>
            </a:solidFill>
            <a:prstDash val="solid"/>
          </a:ln>
        </p:spPr>
        <p:txBody>
          <a:bodyPr/>
          <a:lstStyle/>
          <a:p>
            <a:endParaRPr/>
          </a:p>
        </p:txBody>
      </p:sp>
      <p:sp>
        <p:nvSpPr>
          <p:cNvPr id="41" name="Rektangel 40">
            <a:extLst>
              <a:ext uri="{FF2B5EF4-FFF2-40B4-BE49-F238E27FC236}">
                <a16:creationId xmlns:a16="http://schemas.microsoft.com/office/drawing/2014/main" id="{E8AF519F-FF9B-414B-822D-79798ADE2788}"/>
              </a:ext>
            </a:extLst>
          </p:cNvPr>
          <p:cNvSpPr>
            <a:spLocks noGrp="1"/>
          </p:cNvSpPr>
          <p:nvPr/>
        </p:nvSpPr>
        <p:spPr>
          <a:xfrm>
            <a:off x="8181975" y="4505325"/>
            <a:ext cx="5905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2019</a:t>
            </a:r>
          </a:p>
        </p:txBody>
      </p:sp>
      <p:sp>
        <p:nvSpPr>
          <p:cNvPr id="42" name="Rektangel 41">
            <a:extLst>
              <a:ext uri="{FF2B5EF4-FFF2-40B4-BE49-F238E27FC236}">
                <a16:creationId xmlns:a16="http://schemas.microsoft.com/office/drawing/2014/main" id="{58F760AE-4FC0-4AFA-ACE7-F1A458C1546B}"/>
              </a:ext>
            </a:extLst>
          </p:cNvPr>
          <p:cNvSpPr>
            <a:spLocks noGrp="1"/>
          </p:cNvSpPr>
          <p:nvPr/>
        </p:nvSpPr>
        <p:spPr>
          <a:xfrm>
            <a:off x="8905875" y="4467225"/>
            <a:ext cx="876300" cy="209550"/>
          </a:xfrm>
          <a:prstGeom prst="rect">
            <a:avLst/>
          </a:prstGeom>
          <a:solidFill>
            <a:srgbClr val="F3F5F8"/>
          </a:solidFill>
          <a:ln w="0">
            <a:solidFill>
              <a:srgbClr val="000000">
                <a:alpha val="0"/>
              </a:srgbClr>
            </a:solidFill>
            <a:prstDash val="solid"/>
          </a:ln>
        </p:spPr>
        <p:txBody>
          <a:bodyPr/>
          <a:lstStyle/>
          <a:p>
            <a:endParaRPr/>
          </a:p>
        </p:txBody>
      </p:sp>
      <p:sp>
        <p:nvSpPr>
          <p:cNvPr id="43" name="Rektangel 42">
            <a:extLst>
              <a:ext uri="{FF2B5EF4-FFF2-40B4-BE49-F238E27FC236}">
                <a16:creationId xmlns:a16="http://schemas.microsoft.com/office/drawing/2014/main" id="{D16BD0C2-FF82-46D0-BAB5-6FFCE28561DA}"/>
              </a:ext>
            </a:extLst>
          </p:cNvPr>
          <p:cNvSpPr>
            <a:spLocks noGrp="1"/>
          </p:cNvSpPr>
          <p:nvPr/>
        </p:nvSpPr>
        <p:spPr>
          <a:xfrm>
            <a:off x="8943975" y="4505325"/>
            <a:ext cx="800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40.7%</a:t>
            </a:r>
          </a:p>
        </p:txBody>
      </p:sp>
      <p:sp>
        <p:nvSpPr>
          <p:cNvPr id="44" name="Rektangel 43">
            <a:extLst>
              <a:ext uri="{FF2B5EF4-FFF2-40B4-BE49-F238E27FC236}">
                <a16:creationId xmlns:a16="http://schemas.microsoft.com/office/drawing/2014/main" id="{104866FC-A3AA-42D4-8BDC-CF7D63744F65}"/>
              </a:ext>
            </a:extLst>
          </p:cNvPr>
          <p:cNvSpPr>
            <a:spLocks noGrp="1"/>
          </p:cNvSpPr>
          <p:nvPr/>
        </p:nvSpPr>
        <p:spPr>
          <a:xfrm>
            <a:off x="9906000" y="4467225"/>
            <a:ext cx="571500" cy="209550"/>
          </a:xfrm>
          <a:prstGeom prst="rect">
            <a:avLst/>
          </a:prstGeom>
          <a:solidFill>
            <a:srgbClr val="F3F5F8"/>
          </a:solidFill>
          <a:ln w="0">
            <a:solidFill>
              <a:srgbClr val="000000">
                <a:alpha val="0"/>
              </a:srgbClr>
            </a:solidFill>
            <a:prstDash val="solid"/>
          </a:ln>
        </p:spPr>
        <p:txBody>
          <a:bodyPr/>
          <a:lstStyle/>
          <a:p>
            <a:endParaRPr/>
          </a:p>
        </p:txBody>
      </p:sp>
      <p:sp>
        <p:nvSpPr>
          <p:cNvPr id="45" name="Rektangel 44">
            <a:extLst>
              <a:ext uri="{FF2B5EF4-FFF2-40B4-BE49-F238E27FC236}">
                <a16:creationId xmlns:a16="http://schemas.microsoft.com/office/drawing/2014/main" id="{E77EB6FB-583C-431F-9C60-9D9095C27B9C}"/>
              </a:ext>
            </a:extLst>
          </p:cNvPr>
          <p:cNvSpPr>
            <a:spLocks noGrp="1"/>
          </p:cNvSpPr>
          <p:nvPr/>
        </p:nvSpPr>
        <p:spPr>
          <a:xfrm>
            <a:off x="9944100" y="4505325"/>
            <a:ext cx="495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3</a:t>
            </a:r>
          </a:p>
        </p:txBody>
      </p:sp>
      <p:sp>
        <p:nvSpPr>
          <p:cNvPr id="46" name="Rektangel 45">
            <a:extLst>
              <a:ext uri="{FF2B5EF4-FFF2-40B4-BE49-F238E27FC236}">
                <a16:creationId xmlns:a16="http://schemas.microsoft.com/office/drawing/2014/main" id="{18A92830-E04C-4DAB-B610-87234B6B5336}"/>
              </a:ext>
            </a:extLst>
          </p:cNvPr>
          <p:cNvSpPr>
            <a:spLocks noGrp="1"/>
          </p:cNvSpPr>
          <p:nvPr/>
        </p:nvSpPr>
        <p:spPr>
          <a:xfrm>
            <a:off x="8143875" y="4686300"/>
            <a:ext cx="666750" cy="209550"/>
          </a:xfrm>
          <a:prstGeom prst="rect">
            <a:avLst/>
          </a:prstGeom>
          <a:solidFill>
            <a:srgbClr val="FFFFFF"/>
          </a:solidFill>
          <a:ln w="0">
            <a:solidFill>
              <a:srgbClr val="000000">
                <a:alpha val="0"/>
              </a:srgbClr>
            </a:solidFill>
            <a:prstDash val="solid"/>
          </a:ln>
        </p:spPr>
        <p:txBody>
          <a:bodyPr/>
          <a:lstStyle/>
          <a:p>
            <a:endParaRPr/>
          </a:p>
        </p:txBody>
      </p:sp>
      <p:sp>
        <p:nvSpPr>
          <p:cNvPr id="47" name="Rektangel 46">
            <a:extLst>
              <a:ext uri="{FF2B5EF4-FFF2-40B4-BE49-F238E27FC236}">
                <a16:creationId xmlns:a16="http://schemas.microsoft.com/office/drawing/2014/main" id="{C60EE3B5-F868-4042-B111-7C4967A5514F}"/>
              </a:ext>
            </a:extLst>
          </p:cNvPr>
          <p:cNvSpPr>
            <a:spLocks noGrp="1"/>
          </p:cNvSpPr>
          <p:nvPr/>
        </p:nvSpPr>
        <p:spPr>
          <a:xfrm>
            <a:off x="8181975" y="4724400"/>
            <a:ext cx="5905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2020</a:t>
            </a:r>
          </a:p>
        </p:txBody>
      </p:sp>
      <p:sp>
        <p:nvSpPr>
          <p:cNvPr id="48" name="Rektangel 47">
            <a:extLst>
              <a:ext uri="{FF2B5EF4-FFF2-40B4-BE49-F238E27FC236}">
                <a16:creationId xmlns:a16="http://schemas.microsoft.com/office/drawing/2014/main" id="{6664B11E-B393-4860-905C-E90042F2B993}"/>
              </a:ext>
            </a:extLst>
          </p:cNvPr>
          <p:cNvSpPr>
            <a:spLocks noGrp="1"/>
          </p:cNvSpPr>
          <p:nvPr/>
        </p:nvSpPr>
        <p:spPr>
          <a:xfrm>
            <a:off x="8905875" y="4686300"/>
            <a:ext cx="876300" cy="209550"/>
          </a:xfrm>
          <a:prstGeom prst="rect">
            <a:avLst/>
          </a:prstGeom>
          <a:solidFill>
            <a:srgbClr val="FFFFFF"/>
          </a:solidFill>
          <a:ln w="0">
            <a:solidFill>
              <a:srgbClr val="000000">
                <a:alpha val="0"/>
              </a:srgbClr>
            </a:solidFill>
            <a:prstDash val="solid"/>
          </a:ln>
        </p:spPr>
        <p:txBody>
          <a:bodyPr/>
          <a:lstStyle/>
          <a:p>
            <a:endParaRPr/>
          </a:p>
        </p:txBody>
      </p:sp>
      <p:sp>
        <p:nvSpPr>
          <p:cNvPr id="49" name="Rektangel 48">
            <a:extLst>
              <a:ext uri="{FF2B5EF4-FFF2-40B4-BE49-F238E27FC236}">
                <a16:creationId xmlns:a16="http://schemas.microsoft.com/office/drawing/2014/main" id="{1F4CDD42-1644-4803-93B5-8FBE00C0F69E}"/>
              </a:ext>
            </a:extLst>
          </p:cNvPr>
          <p:cNvSpPr>
            <a:spLocks noGrp="1"/>
          </p:cNvSpPr>
          <p:nvPr/>
        </p:nvSpPr>
        <p:spPr>
          <a:xfrm>
            <a:off x="8943975" y="4724400"/>
            <a:ext cx="800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43.9%</a:t>
            </a:r>
          </a:p>
        </p:txBody>
      </p:sp>
      <p:sp>
        <p:nvSpPr>
          <p:cNvPr id="50" name="Rektangel 49">
            <a:extLst>
              <a:ext uri="{FF2B5EF4-FFF2-40B4-BE49-F238E27FC236}">
                <a16:creationId xmlns:a16="http://schemas.microsoft.com/office/drawing/2014/main" id="{E6878A17-A332-4DD9-A830-657B993B364F}"/>
              </a:ext>
            </a:extLst>
          </p:cNvPr>
          <p:cNvSpPr>
            <a:spLocks noGrp="1"/>
          </p:cNvSpPr>
          <p:nvPr/>
        </p:nvSpPr>
        <p:spPr>
          <a:xfrm>
            <a:off x="9906000" y="4686300"/>
            <a:ext cx="571500" cy="209550"/>
          </a:xfrm>
          <a:prstGeom prst="rect">
            <a:avLst/>
          </a:prstGeom>
          <a:solidFill>
            <a:srgbClr val="FFFFFF"/>
          </a:solidFill>
          <a:ln w="0">
            <a:solidFill>
              <a:srgbClr val="000000">
                <a:alpha val="0"/>
              </a:srgbClr>
            </a:solidFill>
            <a:prstDash val="solid"/>
          </a:ln>
        </p:spPr>
        <p:txBody>
          <a:bodyPr/>
          <a:lstStyle/>
          <a:p>
            <a:endParaRPr/>
          </a:p>
        </p:txBody>
      </p:sp>
      <p:sp>
        <p:nvSpPr>
          <p:cNvPr id="51" name="Rektangel 50">
            <a:extLst>
              <a:ext uri="{FF2B5EF4-FFF2-40B4-BE49-F238E27FC236}">
                <a16:creationId xmlns:a16="http://schemas.microsoft.com/office/drawing/2014/main" id="{002B87E6-C3E8-4DB5-864E-AAEFAC573490}"/>
              </a:ext>
            </a:extLst>
          </p:cNvPr>
          <p:cNvSpPr>
            <a:spLocks noGrp="1"/>
          </p:cNvSpPr>
          <p:nvPr/>
        </p:nvSpPr>
        <p:spPr>
          <a:xfrm>
            <a:off x="9944100" y="4724400"/>
            <a:ext cx="495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5</a:t>
            </a:r>
          </a:p>
        </p:txBody>
      </p:sp>
      <p:sp>
        <p:nvSpPr>
          <p:cNvPr id="52" name="Rektangel 51">
            <a:extLst>
              <a:ext uri="{FF2B5EF4-FFF2-40B4-BE49-F238E27FC236}">
                <a16:creationId xmlns:a16="http://schemas.microsoft.com/office/drawing/2014/main" id="{D7BC2729-E1AA-407C-A5B7-CFED955EA8FE}"/>
              </a:ext>
            </a:extLst>
          </p:cNvPr>
          <p:cNvSpPr>
            <a:spLocks noGrp="1"/>
          </p:cNvSpPr>
          <p:nvPr/>
        </p:nvSpPr>
        <p:spPr>
          <a:xfrm>
            <a:off x="8143875" y="4905375"/>
            <a:ext cx="666750" cy="209550"/>
          </a:xfrm>
          <a:prstGeom prst="rect">
            <a:avLst/>
          </a:prstGeom>
          <a:solidFill>
            <a:srgbClr val="F3F5F8"/>
          </a:solidFill>
          <a:ln w="0">
            <a:solidFill>
              <a:srgbClr val="000000">
                <a:alpha val="0"/>
              </a:srgbClr>
            </a:solidFill>
            <a:prstDash val="solid"/>
          </a:ln>
        </p:spPr>
        <p:txBody>
          <a:bodyPr/>
          <a:lstStyle/>
          <a:p>
            <a:endParaRPr/>
          </a:p>
        </p:txBody>
      </p:sp>
      <p:sp>
        <p:nvSpPr>
          <p:cNvPr id="53" name="Rektangel 52">
            <a:extLst>
              <a:ext uri="{FF2B5EF4-FFF2-40B4-BE49-F238E27FC236}">
                <a16:creationId xmlns:a16="http://schemas.microsoft.com/office/drawing/2014/main" id="{B3B12035-86A7-4D44-9FDE-34A831F9CB19}"/>
              </a:ext>
            </a:extLst>
          </p:cNvPr>
          <p:cNvSpPr>
            <a:spLocks noGrp="1"/>
          </p:cNvSpPr>
          <p:nvPr/>
        </p:nvSpPr>
        <p:spPr>
          <a:xfrm>
            <a:off x="8181975" y="4943475"/>
            <a:ext cx="5905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2021</a:t>
            </a:r>
          </a:p>
        </p:txBody>
      </p:sp>
      <p:sp>
        <p:nvSpPr>
          <p:cNvPr id="54" name="Rektangel 53">
            <a:extLst>
              <a:ext uri="{FF2B5EF4-FFF2-40B4-BE49-F238E27FC236}">
                <a16:creationId xmlns:a16="http://schemas.microsoft.com/office/drawing/2014/main" id="{7885582F-FDA4-4887-837B-C8A2CBC6C66F}"/>
              </a:ext>
            </a:extLst>
          </p:cNvPr>
          <p:cNvSpPr>
            <a:spLocks noGrp="1"/>
          </p:cNvSpPr>
          <p:nvPr/>
        </p:nvSpPr>
        <p:spPr>
          <a:xfrm>
            <a:off x="8905875" y="4905375"/>
            <a:ext cx="876300" cy="209550"/>
          </a:xfrm>
          <a:prstGeom prst="rect">
            <a:avLst/>
          </a:prstGeom>
          <a:solidFill>
            <a:srgbClr val="F3F5F8"/>
          </a:solidFill>
          <a:ln w="0">
            <a:solidFill>
              <a:srgbClr val="000000">
                <a:alpha val="0"/>
              </a:srgbClr>
            </a:solidFill>
            <a:prstDash val="solid"/>
          </a:ln>
        </p:spPr>
        <p:txBody>
          <a:bodyPr/>
          <a:lstStyle/>
          <a:p>
            <a:endParaRPr/>
          </a:p>
        </p:txBody>
      </p:sp>
      <p:sp>
        <p:nvSpPr>
          <p:cNvPr id="55" name="Rektangel 54">
            <a:extLst>
              <a:ext uri="{FF2B5EF4-FFF2-40B4-BE49-F238E27FC236}">
                <a16:creationId xmlns:a16="http://schemas.microsoft.com/office/drawing/2014/main" id="{C6CC11DF-B61F-4416-B836-A7B8EE70AC31}"/>
              </a:ext>
            </a:extLst>
          </p:cNvPr>
          <p:cNvSpPr>
            <a:spLocks noGrp="1"/>
          </p:cNvSpPr>
          <p:nvPr/>
        </p:nvSpPr>
        <p:spPr>
          <a:xfrm>
            <a:off x="8943975" y="4943475"/>
            <a:ext cx="800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31.8%</a:t>
            </a:r>
          </a:p>
        </p:txBody>
      </p:sp>
      <p:sp>
        <p:nvSpPr>
          <p:cNvPr id="56" name="Rektangel 55">
            <a:extLst>
              <a:ext uri="{FF2B5EF4-FFF2-40B4-BE49-F238E27FC236}">
                <a16:creationId xmlns:a16="http://schemas.microsoft.com/office/drawing/2014/main" id="{F5AD339E-8F88-4A60-B139-53FB216C4E91}"/>
              </a:ext>
            </a:extLst>
          </p:cNvPr>
          <p:cNvSpPr>
            <a:spLocks noGrp="1"/>
          </p:cNvSpPr>
          <p:nvPr/>
        </p:nvSpPr>
        <p:spPr>
          <a:xfrm>
            <a:off x="9906000" y="4905375"/>
            <a:ext cx="571500" cy="209550"/>
          </a:xfrm>
          <a:prstGeom prst="rect">
            <a:avLst/>
          </a:prstGeom>
          <a:solidFill>
            <a:srgbClr val="F3F5F8"/>
          </a:solidFill>
          <a:ln w="0">
            <a:solidFill>
              <a:srgbClr val="000000">
                <a:alpha val="0"/>
              </a:srgbClr>
            </a:solidFill>
            <a:prstDash val="solid"/>
          </a:ln>
        </p:spPr>
        <p:txBody>
          <a:bodyPr/>
          <a:lstStyle/>
          <a:p>
            <a:endParaRPr/>
          </a:p>
        </p:txBody>
      </p:sp>
      <p:sp>
        <p:nvSpPr>
          <p:cNvPr id="57" name="Rektangel 56">
            <a:extLst>
              <a:ext uri="{FF2B5EF4-FFF2-40B4-BE49-F238E27FC236}">
                <a16:creationId xmlns:a16="http://schemas.microsoft.com/office/drawing/2014/main" id="{C2C388B9-AC48-4DB5-A06C-5C6D4BE062CD}"/>
              </a:ext>
            </a:extLst>
          </p:cNvPr>
          <p:cNvSpPr>
            <a:spLocks noGrp="1"/>
          </p:cNvSpPr>
          <p:nvPr/>
        </p:nvSpPr>
        <p:spPr>
          <a:xfrm>
            <a:off x="9944100" y="4943475"/>
            <a:ext cx="495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3</a:t>
            </a:r>
          </a:p>
        </p:txBody>
      </p:sp>
      <p:sp>
        <p:nvSpPr>
          <p:cNvPr id="58" name="Rektangel 57">
            <a:extLst>
              <a:ext uri="{FF2B5EF4-FFF2-40B4-BE49-F238E27FC236}">
                <a16:creationId xmlns:a16="http://schemas.microsoft.com/office/drawing/2014/main" id="{7468B2B9-0BBD-4CF2-AADE-29EBDB515B12}"/>
              </a:ext>
            </a:extLst>
          </p:cNvPr>
          <p:cNvSpPr>
            <a:spLocks noGrp="1"/>
          </p:cNvSpPr>
          <p:nvPr/>
        </p:nvSpPr>
        <p:spPr>
          <a:xfrm>
            <a:off x="8143875" y="5124450"/>
            <a:ext cx="666750" cy="209550"/>
          </a:xfrm>
          <a:prstGeom prst="rect">
            <a:avLst/>
          </a:prstGeom>
          <a:solidFill>
            <a:srgbClr val="FFFFFF"/>
          </a:solidFill>
          <a:ln w="0">
            <a:solidFill>
              <a:srgbClr val="000000">
                <a:alpha val="0"/>
              </a:srgbClr>
            </a:solidFill>
            <a:prstDash val="solid"/>
          </a:ln>
        </p:spPr>
        <p:txBody>
          <a:bodyPr/>
          <a:lstStyle/>
          <a:p>
            <a:endParaRPr/>
          </a:p>
        </p:txBody>
      </p:sp>
      <p:sp>
        <p:nvSpPr>
          <p:cNvPr id="59" name="Rektangel 58">
            <a:extLst>
              <a:ext uri="{FF2B5EF4-FFF2-40B4-BE49-F238E27FC236}">
                <a16:creationId xmlns:a16="http://schemas.microsoft.com/office/drawing/2014/main" id="{19E6D583-45C7-42D6-A2CC-603BE675A1FB}"/>
              </a:ext>
            </a:extLst>
          </p:cNvPr>
          <p:cNvSpPr>
            <a:spLocks noGrp="1"/>
          </p:cNvSpPr>
          <p:nvPr/>
        </p:nvSpPr>
        <p:spPr>
          <a:xfrm>
            <a:off x="8181975" y="5162550"/>
            <a:ext cx="5905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2022</a:t>
            </a:r>
          </a:p>
        </p:txBody>
      </p:sp>
      <p:sp>
        <p:nvSpPr>
          <p:cNvPr id="60" name="Rektangel 59">
            <a:extLst>
              <a:ext uri="{FF2B5EF4-FFF2-40B4-BE49-F238E27FC236}">
                <a16:creationId xmlns:a16="http://schemas.microsoft.com/office/drawing/2014/main" id="{D0E70C0B-653D-4A59-9A6C-8C26911A3028}"/>
              </a:ext>
            </a:extLst>
          </p:cNvPr>
          <p:cNvSpPr>
            <a:spLocks noGrp="1"/>
          </p:cNvSpPr>
          <p:nvPr/>
        </p:nvSpPr>
        <p:spPr>
          <a:xfrm>
            <a:off x="8905875" y="5124450"/>
            <a:ext cx="876300" cy="209550"/>
          </a:xfrm>
          <a:prstGeom prst="rect">
            <a:avLst/>
          </a:prstGeom>
          <a:solidFill>
            <a:srgbClr val="FFFFFF"/>
          </a:solidFill>
          <a:ln w="0">
            <a:solidFill>
              <a:srgbClr val="000000">
                <a:alpha val="0"/>
              </a:srgbClr>
            </a:solidFill>
            <a:prstDash val="solid"/>
          </a:ln>
        </p:spPr>
        <p:txBody>
          <a:bodyPr/>
          <a:lstStyle/>
          <a:p>
            <a:endParaRPr/>
          </a:p>
        </p:txBody>
      </p:sp>
      <p:sp>
        <p:nvSpPr>
          <p:cNvPr id="61" name="Rektangel 60">
            <a:extLst>
              <a:ext uri="{FF2B5EF4-FFF2-40B4-BE49-F238E27FC236}">
                <a16:creationId xmlns:a16="http://schemas.microsoft.com/office/drawing/2014/main" id="{E3634E75-3430-4A4C-BB99-216C46D6F6B3}"/>
              </a:ext>
            </a:extLst>
          </p:cNvPr>
          <p:cNvSpPr>
            <a:spLocks noGrp="1"/>
          </p:cNvSpPr>
          <p:nvPr/>
        </p:nvSpPr>
        <p:spPr>
          <a:xfrm>
            <a:off x="8943975" y="5162550"/>
            <a:ext cx="800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D64F4F"/>
                </a:solidFill>
                <a:latin typeface="Aptos"/>
                <a:ea typeface="Aptos"/>
                <a:cs typeface="Aptos"/>
              </a:defRPr>
            </a:pPr>
            <a:r>
              <a:rPr sz="675" b="0">
                <a:solidFill>
                  <a:srgbClr val="D64F4F"/>
                </a:solidFill>
                <a:latin typeface="Aptos"/>
                <a:ea typeface="Aptos"/>
                <a:cs typeface="Aptos"/>
              </a:rPr>
              <a:t>-27.5%</a:t>
            </a:r>
          </a:p>
        </p:txBody>
      </p:sp>
      <p:sp>
        <p:nvSpPr>
          <p:cNvPr id="62" name="Rektangel 61">
            <a:extLst>
              <a:ext uri="{FF2B5EF4-FFF2-40B4-BE49-F238E27FC236}">
                <a16:creationId xmlns:a16="http://schemas.microsoft.com/office/drawing/2014/main" id="{89C53C0E-04F7-4BBE-9894-040A7788098D}"/>
              </a:ext>
            </a:extLst>
          </p:cNvPr>
          <p:cNvSpPr>
            <a:spLocks noGrp="1"/>
          </p:cNvSpPr>
          <p:nvPr/>
        </p:nvSpPr>
        <p:spPr>
          <a:xfrm>
            <a:off x="9906000" y="5124450"/>
            <a:ext cx="571500" cy="209550"/>
          </a:xfrm>
          <a:prstGeom prst="rect">
            <a:avLst/>
          </a:prstGeom>
          <a:solidFill>
            <a:srgbClr val="FFFFFF"/>
          </a:solidFill>
          <a:ln w="0">
            <a:solidFill>
              <a:srgbClr val="000000">
                <a:alpha val="0"/>
              </a:srgbClr>
            </a:solidFill>
            <a:prstDash val="solid"/>
          </a:ln>
        </p:spPr>
        <p:txBody>
          <a:bodyPr/>
          <a:lstStyle/>
          <a:p>
            <a:endParaRPr/>
          </a:p>
        </p:txBody>
      </p:sp>
      <p:sp>
        <p:nvSpPr>
          <p:cNvPr id="63" name="Rektangel 62">
            <a:extLst>
              <a:ext uri="{FF2B5EF4-FFF2-40B4-BE49-F238E27FC236}">
                <a16:creationId xmlns:a16="http://schemas.microsoft.com/office/drawing/2014/main" id="{BA45A8E1-057D-4C16-AF7F-088CE79F6EF6}"/>
              </a:ext>
            </a:extLst>
          </p:cNvPr>
          <p:cNvSpPr>
            <a:spLocks noGrp="1"/>
          </p:cNvSpPr>
          <p:nvPr/>
        </p:nvSpPr>
        <p:spPr>
          <a:xfrm>
            <a:off x="9944100" y="5162550"/>
            <a:ext cx="495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6</a:t>
            </a:r>
          </a:p>
        </p:txBody>
      </p:sp>
      <p:sp>
        <p:nvSpPr>
          <p:cNvPr id="64" name="Rektangel 63">
            <a:extLst>
              <a:ext uri="{FF2B5EF4-FFF2-40B4-BE49-F238E27FC236}">
                <a16:creationId xmlns:a16="http://schemas.microsoft.com/office/drawing/2014/main" id="{80218843-85A5-4BE3-8753-FBC74F6085B5}"/>
              </a:ext>
            </a:extLst>
          </p:cNvPr>
          <p:cNvSpPr>
            <a:spLocks noGrp="1"/>
          </p:cNvSpPr>
          <p:nvPr/>
        </p:nvSpPr>
        <p:spPr>
          <a:xfrm>
            <a:off x="8143875" y="5343525"/>
            <a:ext cx="666750" cy="209550"/>
          </a:xfrm>
          <a:prstGeom prst="rect">
            <a:avLst/>
          </a:prstGeom>
          <a:solidFill>
            <a:srgbClr val="F3F5F8"/>
          </a:solidFill>
          <a:ln w="0">
            <a:solidFill>
              <a:srgbClr val="000000">
                <a:alpha val="0"/>
              </a:srgbClr>
            </a:solidFill>
            <a:prstDash val="solid"/>
          </a:ln>
        </p:spPr>
        <p:txBody>
          <a:bodyPr/>
          <a:lstStyle/>
          <a:p>
            <a:endParaRPr/>
          </a:p>
        </p:txBody>
      </p:sp>
      <p:sp>
        <p:nvSpPr>
          <p:cNvPr id="65" name="Rektangel 64">
            <a:extLst>
              <a:ext uri="{FF2B5EF4-FFF2-40B4-BE49-F238E27FC236}">
                <a16:creationId xmlns:a16="http://schemas.microsoft.com/office/drawing/2014/main" id="{5DD9D98E-4C8D-4E54-9E99-FBD5552E273D}"/>
              </a:ext>
            </a:extLst>
          </p:cNvPr>
          <p:cNvSpPr>
            <a:spLocks noGrp="1"/>
          </p:cNvSpPr>
          <p:nvPr/>
        </p:nvSpPr>
        <p:spPr>
          <a:xfrm>
            <a:off x="8181975" y="5381625"/>
            <a:ext cx="5905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2023</a:t>
            </a:r>
          </a:p>
        </p:txBody>
      </p:sp>
      <p:sp>
        <p:nvSpPr>
          <p:cNvPr id="66" name="Rektangel 65">
            <a:extLst>
              <a:ext uri="{FF2B5EF4-FFF2-40B4-BE49-F238E27FC236}">
                <a16:creationId xmlns:a16="http://schemas.microsoft.com/office/drawing/2014/main" id="{8D6DD6A9-1D43-49C8-9429-A916704A166C}"/>
              </a:ext>
            </a:extLst>
          </p:cNvPr>
          <p:cNvSpPr>
            <a:spLocks noGrp="1"/>
          </p:cNvSpPr>
          <p:nvPr/>
        </p:nvSpPr>
        <p:spPr>
          <a:xfrm>
            <a:off x="8905875" y="5343525"/>
            <a:ext cx="876300" cy="209550"/>
          </a:xfrm>
          <a:prstGeom prst="rect">
            <a:avLst/>
          </a:prstGeom>
          <a:solidFill>
            <a:srgbClr val="F3F5F8"/>
          </a:solidFill>
          <a:ln w="0">
            <a:solidFill>
              <a:srgbClr val="000000">
                <a:alpha val="0"/>
              </a:srgbClr>
            </a:solidFill>
            <a:prstDash val="solid"/>
          </a:ln>
        </p:spPr>
        <p:txBody>
          <a:bodyPr/>
          <a:lstStyle/>
          <a:p>
            <a:endParaRPr/>
          </a:p>
        </p:txBody>
      </p:sp>
      <p:sp>
        <p:nvSpPr>
          <p:cNvPr id="67" name="Rektangel 66">
            <a:extLst>
              <a:ext uri="{FF2B5EF4-FFF2-40B4-BE49-F238E27FC236}">
                <a16:creationId xmlns:a16="http://schemas.microsoft.com/office/drawing/2014/main" id="{53E624A7-0D02-47FB-8641-00F9C9A98AA2}"/>
              </a:ext>
            </a:extLst>
          </p:cNvPr>
          <p:cNvSpPr>
            <a:spLocks noGrp="1"/>
          </p:cNvSpPr>
          <p:nvPr/>
        </p:nvSpPr>
        <p:spPr>
          <a:xfrm>
            <a:off x="8943975" y="5381625"/>
            <a:ext cx="800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16.5%</a:t>
            </a:r>
          </a:p>
        </p:txBody>
      </p:sp>
      <p:sp>
        <p:nvSpPr>
          <p:cNvPr id="68" name="Rektangel 67">
            <a:extLst>
              <a:ext uri="{FF2B5EF4-FFF2-40B4-BE49-F238E27FC236}">
                <a16:creationId xmlns:a16="http://schemas.microsoft.com/office/drawing/2014/main" id="{5D7B8634-E9B8-4FD6-B921-36F37675BDE2}"/>
              </a:ext>
            </a:extLst>
          </p:cNvPr>
          <p:cNvSpPr>
            <a:spLocks noGrp="1"/>
          </p:cNvSpPr>
          <p:nvPr/>
        </p:nvSpPr>
        <p:spPr>
          <a:xfrm>
            <a:off x="9906000" y="5343525"/>
            <a:ext cx="571500" cy="209550"/>
          </a:xfrm>
          <a:prstGeom prst="rect">
            <a:avLst/>
          </a:prstGeom>
          <a:solidFill>
            <a:srgbClr val="F3F5F8"/>
          </a:solidFill>
          <a:ln w="0">
            <a:solidFill>
              <a:srgbClr val="000000">
                <a:alpha val="0"/>
              </a:srgbClr>
            </a:solidFill>
            <a:prstDash val="solid"/>
          </a:ln>
        </p:spPr>
        <p:txBody>
          <a:bodyPr/>
          <a:lstStyle/>
          <a:p>
            <a:endParaRPr/>
          </a:p>
        </p:txBody>
      </p:sp>
      <p:sp>
        <p:nvSpPr>
          <p:cNvPr id="69" name="Rektangel 68">
            <a:extLst>
              <a:ext uri="{FF2B5EF4-FFF2-40B4-BE49-F238E27FC236}">
                <a16:creationId xmlns:a16="http://schemas.microsoft.com/office/drawing/2014/main" id="{000B22E2-2E29-4C68-BE1B-907A3E44BBF3}"/>
              </a:ext>
            </a:extLst>
          </p:cNvPr>
          <p:cNvSpPr>
            <a:spLocks noGrp="1"/>
          </p:cNvSpPr>
          <p:nvPr/>
        </p:nvSpPr>
        <p:spPr>
          <a:xfrm>
            <a:off x="9944100" y="5381625"/>
            <a:ext cx="495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4</a:t>
            </a:r>
          </a:p>
        </p:txBody>
      </p:sp>
      <p:sp>
        <p:nvSpPr>
          <p:cNvPr id="70" name="Rektangel 69">
            <a:extLst>
              <a:ext uri="{FF2B5EF4-FFF2-40B4-BE49-F238E27FC236}">
                <a16:creationId xmlns:a16="http://schemas.microsoft.com/office/drawing/2014/main" id="{C3E69BFF-77C0-440B-91A7-B1D95E5A8A2C}"/>
              </a:ext>
            </a:extLst>
          </p:cNvPr>
          <p:cNvSpPr>
            <a:spLocks noGrp="1"/>
          </p:cNvSpPr>
          <p:nvPr/>
        </p:nvSpPr>
        <p:spPr>
          <a:xfrm>
            <a:off x="8143875" y="5562600"/>
            <a:ext cx="666750" cy="209550"/>
          </a:xfrm>
          <a:prstGeom prst="rect">
            <a:avLst/>
          </a:prstGeom>
          <a:solidFill>
            <a:srgbClr val="FFFFFF"/>
          </a:solidFill>
          <a:ln w="0">
            <a:solidFill>
              <a:srgbClr val="000000">
                <a:alpha val="0"/>
              </a:srgbClr>
            </a:solidFill>
            <a:prstDash val="solid"/>
          </a:ln>
        </p:spPr>
        <p:txBody>
          <a:bodyPr/>
          <a:lstStyle/>
          <a:p>
            <a:endParaRPr/>
          </a:p>
        </p:txBody>
      </p:sp>
      <p:sp>
        <p:nvSpPr>
          <p:cNvPr id="71" name="Rektangel 70">
            <a:extLst>
              <a:ext uri="{FF2B5EF4-FFF2-40B4-BE49-F238E27FC236}">
                <a16:creationId xmlns:a16="http://schemas.microsoft.com/office/drawing/2014/main" id="{FC412515-5C9D-49EC-A1BA-D601E4AD4549}"/>
              </a:ext>
            </a:extLst>
          </p:cNvPr>
          <p:cNvSpPr>
            <a:spLocks noGrp="1"/>
          </p:cNvSpPr>
          <p:nvPr/>
        </p:nvSpPr>
        <p:spPr>
          <a:xfrm>
            <a:off x="8181975" y="5600700"/>
            <a:ext cx="5905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2024</a:t>
            </a:r>
          </a:p>
        </p:txBody>
      </p:sp>
      <p:sp>
        <p:nvSpPr>
          <p:cNvPr id="72" name="Rektangel 71">
            <a:extLst>
              <a:ext uri="{FF2B5EF4-FFF2-40B4-BE49-F238E27FC236}">
                <a16:creationId xmlns:a16="http://schemas.microsoft.com/office/drawing/2014/main" id="{31F86CDC-E028-4B58-87BD-7226701499B9}"/>
              </a:ext>
            </a:extLst>
          </p:cNvPr>
          <p:cNvSpPr>
            <a:spLocks noGrp="1"/>
          </p:cNvSpPr>
          <p:nvPr/>
        </p:nvSpPr>
        <p:spPr>
          <a:xfrm>
            <a:off x="8905875" y="5562600"/>
            <a:ext cx="876300" cy="209550"/>
          </a:xfrm>
          <a:prstGeom prst="rect">
            <a:avLst/>
          </a:prstGeom>
          <a:solidFill>
            <a:srgbClr val="FFFFFF"/>
          </a:solidFill>
          <a:ln w="0">
            <a:solidFill>
              <a:srgbClr val="000000">
                <a:alpha val="0"/>
              </a:srgbClr>
            </a:solidFill>
            <a:prstDash val="solid"/>
          </a:ln>
        </p:spPr>
        <p:txBody>
          <a:bodyPr/>
          <a:lstStyle/>
          <a:p>
            <a:endParaRPr/>
          </a:p>
        </p:txBody>
      </p:sp>
      <p:sp>
        <p:nvSpPr>
          <p:cNvPr id="73" name="Rektangel 72">
            <a:extLst>
              <a:ext uri="{FF2B5EF4-FFF2-40B4-BE49-F238E27FC236}">
                <a16:creationId xmlns:a16="http://schemas.microsoft.com/office/drawing/2014/main" id="{F95FE6CC-5305-4927-91AB-9F2DFDD6619F}"/>
              </a:ext>
            </a:extLst>
          </p:cNvPr>
          <p:cNvSpPr>
            <a:spLocks noGrp="1"/>
          </p:cNvSpPr>
          <p:nvPr/>
        </p:nvSpPr>
        <p:spPr>
          <a:xfrm>
            <a:off x="8943975" y="5600700"/>
            <a:ext cx="800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32.9%</a:t>
            </a:r>
          </a:p>
        </p:txBody>
      </p:sp>
      <p:sp>
        <p:nvSpPr>
          <p:cNvPr id="74" name="Rektangel 73">
            <a:extLst>
              <a:ext uri="{FF2B5EF4-FFF2-40B4-BE49-F238E27FC236}">
                <a16:creationId xmlns:a16="http://schemas.microsoft.com/office/drawing/2014/main" id="{5996E635-5096-4A9A-B34F-3B436D83F7C9}"/>
              </a:ext>
            </a:extLst>
          </p:cNvPr>
          <p:cNvSpPr>
            <a:spLocks noGrp="1"/>
          </p:cNvSpPr>
          <p:nvPr/>
        </p:nvSpPr>
        <p:spPr>
          <a:xfrm>
            <a:off x="9906000" y="5562600"/>
            <a:ext cx="571500" cy="209550"/>
          </a:xfrm>
          <a:prstGeom prst="rect">
            <a:avLst/>
          </a:prstGeom>
          <a:solidFill>
            <a:srgbClr val="FFFFFF"/>
          </a:solidFill>
          <a:ln w="0">
            <a:solidFill>
              <a:srgbClr val="000000">
                <a:alpha val="0"/>
              </a:srgbClr>
            </a:solidFill>
            <a:prstDash val="solid"/>
          </a:ln>
        </p:spPr>
        <p:txBody>
          <a:bodyPr/>
          <a:lstStyle/>
          <a:p>
            <a:endParaRPr/>
          </a:p>
        </p:txBody>
      </p:sp>
      <p:sp>
        <p:nvSpPr>
          <p:cNvPr id="75" name="Rektangel 74">
            <a:extLst>
              <a:ext uri="{FF2B5EF4-FFF2-40B4-BE49-F238E27FC236}">
                <a16:creationId xmlns:a16="http://schemas.microsoft.com/office/drawing/2014/main" id="{81C9747D-8DC5-4739-BF36-A66CCBB35F73}"/>
              </a:ext>
            </a:extLst>
          </p:cNvPr>
          <p:cNvSpPr>
            <a:spLocks noGrp="1"/>
          </p:cNvSpPr>
          <p:nvPr/>
        </p:nvSpPr>
        <p:spPr>
          <a:xfrm>
            <a:off x="9944100" y="5600700"/>
            <a:ext cx="495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3</a:t>
            </a:r>
          </a:p>
        </p:txBody>
      </p:sp>
      <p:sp>
        <p:nvSpPr>
          <p:cNvPr id="76" name="Rektangel 75">
            <a:extLst>
              <a:ext uri="{FF2B5EF4-FFF2-40B4-BE49-F238E27FC236}">
                <a16:creationId xmlns:a16="http://schemas.microsoft.com/office/drawing/2014/main" id="{96F01C0C-4E87-4207-B26B-6F2557CFB8B0}"/>
              </a:ext>
            </a:extLst>
          </p:cNvPr>
          <p:cNvSpPr>
            <a:spLocks noGrp="1"/>
          </p:cNvSpPr>
          <p:nvPr/>
        </p:nvSpPr>
        <p:spPr>
          <a:xfrm>
            <a:off x="8143875" y="5781675"/>
            <a:ext cx="666750" cy="209550"/>
          </a:xfrm>
          <a:prstGeom prst="rect">
            <a:avLst/>
          </a:prstGeom>
          <a:solidFill>
            <a:srgbClr val="F3F5F8"/>
          </a:solidFill>
          <a:ln w="0">
            <a:solidFill>
              <a:srgbClr val="000000">
                <a:alpha val="0"/>
              </a:srgbClr>
            </a:solidFill>
            <a:prstDash val="solid"/>
          </a:ln>
        </p:spPr>
        <p:txBody>
          <a:bodyPr/>
          <a:lstStyle/>
          <a:p>
            <a:endParaRPr/>
          </a:p>
        </p:txBody>
      </p:sp>
      <p:sp>
        <p:nvSpPr>
          <p:cNvPr id="77" name="Rektangel 76">
            <a:extLst>
              <a:ext uri="{FF2B5EF4-FFF2-40B4-BE49-F238E27FC236}">
                <a16:creationId xmlns:a16="http://schemas.microsoft.com/office/drawing/2014/main" id="{0C8B3C6B-53E5-4E94-B86E-8AA7F61D05A3}"/>
              </a:ext>
            </a:extLst>
          </p:cNvPr>
          <p:cNvSpPr>
            <a:spLocks noGrp="1"/>
          </p:cNvSpPr>
          <p:nvPr/>
        </p:nvSpPr>
        <p:spPr>
          <a:xfrm>
            <a:off x="8181975" y="5819775"/>
            <a:ext cx="5905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2025</a:t>
            </a:r>
          </a:p>
        </p:txBody>
      </p:sp>
      <p:sp>
        <p:nvSpPr>
          <p:cNvPr id="78" name="Rektangel 77">
            <a:extLst>
              <a:ext uri="{FF2B5EF4-FFF2-40B4-BE49-F238E27FC236}">
                <a16:creationId xmlns:a16="http://schemas.microsoft.com/office/drawing/2014/main" id="{E6D2C1FE-C1BF-419B-9059-C605AE936892}"/>
              </a:ext>
            </a:extLst>
          </p:cNvPr>
          <p:cNvSpPr>
            <a:spLocks noGrp="1"/>
          </p:cNvSpPr>
          <p:nvPr/>
        </p:nvSpPr>
        <p:spPr>
          <a:xfrm>
            <a:off x="8905875" y="5781675"/>
            <a:ext cx="876300" cy="209550"/>
          </a:xfrm>
          <a:prstGeom prst="rect">
            <a:avLst/>
          </a:prstGeom>
          <a:solidFill>
            <a:srgbClr val="F3F5F8"/>
          </a:solidFill>
          <a:ln w="0">
            <a:solidFill>
              <a:srgbClr val="000000">
                <a:alpha val="0"/>
              </a:srgbClr>
            </a:solidFill>
            <a:prstDash val="solid"/>
          </a:ln>
        </p:spPr>
        <p:txBody>
          <a:bodyPr/>
          <a:lstStyle/>
          <a:p>
            <a:endParaRPr/>
          </a:p>
        </p:txBody>
      </p:sp>
      <p:sp>
        <p:nvSpPr>
          <p:cNvPr id="79" name="Rektangel 78">
            <a:extLst>
              <a:ext uri="{FF2B5EF4-FFF2-40B4-BE49-F238E27FC236}">
                <a16:creationId xmlns:a16="http://schemas.microsoft.com/office/drawing/2014/main" id="{45542990-09AF-455B-8015-C0A7F996E963}"/>
              </a:ext>
            </a:extLst>
          </p:cNvPr>
          <p:cNvSpPr>
            <a:spLocks noGrp="1"/>
          </p:cNvSpPr>
          <p:nvPr/>
        </p:nvSpPr>
        <p:spPr>
          <a:xfrm>
            <a:off x="8943975" y="5819775"/>
            <a:ext cx="800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7.5%</a:t>
            </a:r>
          </a:p>
        </p:txBody>
      </p:sp>
      <p:sp>
        <p:nvSpPr>
          <p:cNvPr id="80" name="Rektangel 79">
            <a:extLst>
              <a:ext uri="{FF2B5EF4-FFF2-40B4-BE49-F238E27FC236}">
                <a16:creationId xmlns:a16="http://schemas.microsoft.com/office/drawing/2014/main" id="{9F2FB2FB-7F21-4970-A1DC-203F63E63EFD}"/>
              </a:ext>
            </a:extLst>
          </p:cNvPr>
          <p:cNvSpPr>
            <a:spLocks noGrp="1"/>
          </p:cNvSpPr>
          <p:nvPr/>
        </p:nvSpPr>
        <p:spPr>
          <a:xfrm>
            <a:off x="9906000" y="5781675"/>
            <a:ext cx="571500" cy="209550"/>
          </a:xfrm>
          <a:prstGeom prst="rect">
            <a:avLst/>
          </a:prstGeom>
          <a:solidFill>
            <a:srgbClr val="F3F5F8"/>
          </a:solidFill>
          <a:ln w="0">
            <a:solidFill>
              <a:srgbClr val="000000">
                <a:alpha val="0"/>
              </a:srgbClr>
            </a:solidFill>
            <a:prstDash val="solid"/>
          </a:ln>
        </p:spPr>
        <p:txBody>
          <a:bodyPr/>
          <a:lstStyle/>
          <a:p>
            <a:endParaRPr/>
          </a:p>
        </p:txBody>
      </p:sp>
      <p:sp>
        <p:nvSpPr>
          <p:cNvPr id="81" name="Rektangel 80">
            <a:extLst>
              <a:ext uri="{FF2B5EF4-FFF2-40B4-BE49-F238E27FC236}">
                <a16:creationId xmlns:a16="http://schemas.microsoft.com/office/drawing/2014/main" id="{75971375-F122-480F-830D-339D142E1AE9}"/>
              </a:ext>
            </a:extLst>
          </p:cNvPr>
          <p:cNvSpPr>
            <a:spLocks noGrp="1"/>
          </p:cNvSpPr>
          <p:nvPr/>
        </p:nvSpPr>
        <p:spPr>
          <a:xfrm>
            <a:off x="9944100" y="5819775"/>
            <a:ext cx="495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0">
                <a:solidFill>
                  <a:srgbClr val="17233D"/>
                </a:solidFill>
                <a:latin typeface="Aptos"/>
                <a:ea typeface="Aptos"/>
                <a:cs typeface="Aptos"/>
              </a:defRPr>
            </a:pPr>
            <a:r>
              <a:rPr sz="675" b="0">
                <a:solidFill>
                  <a:srgbClr val="17233D"/>
                </a:solidFill>
                <a:latin typeface="Aptos"/>
                <a:ea typeface="Aptos"/>
                <a:cs typeface="Aptos"/>
              </a:rPr>
              <a:t>2</a:t>
            </a:r>
          </a:p>
        </p:txBody>
      </p:sp>
      <p:sp>
        <p:nvSpPr>
          <p:cNvPr id="82" name="Rektangel 81">
            <a:extLst>
              <a:ext uri="{FF2B5EF4-FFF2-40B4-BE49-F238E27FC236}">
                <a16:creationId xmlns:a16="http://schemas.microsoft.com/office/drawing/2014/main" id="{FA659CF6-B5E7-4EE0-8221-89B891817C36}"/>
              </a:ext>
            </a:extLst>
          </p:cNvPr>
          <p:cNvSpPr>
            <a:spLocks noGrp="1"/>
          </p:cNvSpPr>
          <p:nvPr/>
        </p:nvSpPr>
        <p:spPr>
          <a:xfrm>
            <a:off x="571500" y="5257799"/>
            <a:ext cx="7096124" cy="733425"/>
          </a:xfrm>
          <a:prstGeom prst="rect">
            <a:avLst/>
          </a:prstGeom>
          <a:solidFill>
            <a:srgbClr val="000000">
              <a:alpha val="0"/>
            </a:srgbClr>
          </a:solidFill>
          <a:ln w="0">
            <a:solidFill>
              <a:srgbClr val="000000">
                <a:alpha val="0"/>
              </a:srgbClr>
            </a:solidFill>
            <a:prstDash val="solid"/>
          </a:ln>
        </p:spPr>
        <p:txBody>
          <a:bodyPr lIns="0" tIns="0" rIns="0" bIns="0" anchor="t"/>
          <a:lstStyle/>
          <a:p>
            <a:pPr>
              <a:buNone/>
              <a:defRPr sz="1125" b="0">
                <a:solidFill>
                  <a:srgbClr val="17233D"/>
                </a:solidFill>
                <a:latin typeface="Aptos"/>
                <a:ea typeface="Aptos"/>
                <a:cs typeface="Aptos"/>
              </a:defRPr>
            </a:pPr>
            <a:r>
              <a:rPr sz="1125" b="0">
                <a:solidFill>
                  <a:srgbClr val="17233D"/>
                </a:solidFill>
                <a:latin typeface="Aptos"/>
                <a:ea typeface="Aptos"/>
                <a:cs typeface="Aptos"/>
              </a:rPr>
              <a:t>Backtests er nyttige til at vurdere, hvordan en strategi ville have klaret sig historisk, men de garanterer ikke fremtidige resultater. Markedsforhold ændrer sig, og en strategi kan være ”overfitted” til tidligere data. Derfor bruger vi Walk forward test, hvor strategien testes på usete data. Det giver et mere realistisk billede af strategiens performance i live markedet.</a:t>
            </a:r>
          </a:p>
        </p:txBody>
      </p:sp>
      <p:sp>
        <p:nvSpPr>
          <p:cNvPr id="83" name="Rektangel 82">
            <a:extLst>
              <a:ext uri="{FF2B5EF4-FFF2-40B4-BE49-F238E27FC236}">
                <a16:creationId xmlns:a16="http://schemas.microsoft.com/office/drawing/2014/main" id="{EC633129-4B26-4000-B596-C5B9FC6EF1B3}"/>
              </a:ext>
            </a:extLst>
          </p:cNvPr>
          <p:cNvSpPr>
            <a:spLocks noGrp="1"/>
          </p:cNvSpPr>
          <p:nvPr/>
        </p:nvSpPr>
        <p:spPr>
          <a:xfrm>
            <a:off x="400050" y="6572250"/>
            <a:ext cx="8572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00" b="0">
                <a:solidFill>
                  <a:srgbClr val="64748B"/>
                </a:solidFill>
                <a:latin typeface="Aptos"/>
                <a:ea typeface="Aptos"/>
                <a:cs typeface="Aptos"/>
              </a:defRPr>
            </a:pPr>
            <a:r>
              <a:rPr sz="600" b="0">
                <a:solidFill>
                  <a:srgbClr val="64748B"/>
                </a:solidFill>
                <a:latin typeface="Aptos"/>
                <a:ea typeface="Aptos"/>
                <a:cs typeface="Aptos"/>
              </a:rPr>
              <a:t>Walk forward setup: 3 år in sample, derefter 1 år out of sample</a:t>
            </a:r>
          </a:p>
        </p:txBody>
      </p:sp>
      <p:sp>
        <p:nvSpPr>
          <p:cNvPr id="86" name="Total trades table cell">
            <a:extLst>
              <a:ext uri="{FF2B5EF4-FFF2-40B4-BE49-F238E27FC236}">
                <a16:creationId xmlns:a16="http://schemas.microsoft.com/office/drawing/2014/main" id="{F383A54C-9FB5-4588-8F1F-A05DFDD37993}"/>
              </a:ext>
            </a:extLst>
          </p:cNvPr>
          <p:cNvSpPr>
            <a:spLocks noGrp="1"/>
          </p:cNvSpPr>
          <p:nvPr/>
        </p:nvSpPr>
        <p:spPr>
          <a:xfrm>
            <a:off x="8143875" y="6000750"/>
            <a:ext cx="666750" cy="209550"/>
          </a:xfrm>
          <a:prstGeom prst="rect">
            <a:avLst/>
          </a:prstGeom>
          <a:solidFill>
            <a:srgbClr val="FFFFFF"/>
          </a:solidFill>
          <a:ln w="0">
            <a:solidFill>
              <a:srgbClr val="000000">
                <a:alpha val="0"/>
              </a:srgbClr>
            </a:solidFill>
            <a:prstDash val="solid"/>
          </a:ln>
        </p:spPr>
        <p:txBody>
          <a:bodyPr/>
          <a:lstStyle/>
          <a:p>
            <a:endParaRPr/>
          </a:p>
        </p:txBody>
      </p:sp>
      <p:sp>
        <p:nvSpPr>
          <p:cNvPr id="87" name="Total trades table cell">
            <a:extLst>
              <a:ext uri="{FF2B5EF4-FFF2-40B4-BE49-F238E27FC236}">
                <a16:creationId xmlns:a16="http://schemas.microsoft.com/office/drawing/2014/main" id="{614D33F8-71BC-4BAF-8419-1B7D9356D7C8}"/>
              </a:ext>
            </a:extLst>
          </p:cNvPr>
          <p:cNvSpPr>
            <a:spLocks noGrp="1"/>
          </p:cNvSpPr>
          <p:nvPr/>
        </p:nvSpPr>
        <p:spPr>
          <a:xfrm>
            <a:off x="8905875" y="6000750"/>
            <a:ext cx="876300" cy="209550"/>
          </a:xfrm>
          <a:prstGeom prst="rect">
            <a:avLst/>
          </a:prstGeom>
          <a:solidFill>
            <a:srgbClr val="FFFFFF"/>
          </a:solidFill>
          <a:ln w="0">
            <a:solidFill>
              <a:srgbClr val="000000">
                <a:alpha val="0"/>
              </a:srgbClr>
            </a:solidFill>
            <a:prstDash val="solid"/>
          </a:ln>
        </p:spPr>
        <p:txBody>
          <a:bodyPr/>
          <a:lstStyle/>
          <a:p>
            <a:endParaRPr/>
          </a:p>
        </p:txBody>
      </p:sp>
      <p:sp>
        <p:nvSpPr>
          <p:cNvPr id="88" name="Total trades table cell">
            <a:extLst>
              <a:ext uri="{FF2B5EF4-FFF2-40B4-BE49-F238E27FC236}">
                <a16:creationId xmlns:a16="http://schemas.microsoft.com/office/drawing/2014/main" id="{FAFAF070-BF6D-4C58-930E-011670B97FA7}"/>
              </a:ext>
            </a:extLst>
          </p:cNvPr>
          <p:cNvSpPr>
            <a:spLocks noGrp="1"/>
          </p:cNvSpPr>
          <p:nvPr/>
        </p:nvSpPr>
        <p:spPr>
          <a:xfrm>
            <a:off x="9906000" y="6000750"/>
            <a:ext cx="571500" cy="209550"/>
          </a:xfrm>
          <a:prstGeom prst="rect">
            <a:avLst/>
          </a:prstGeom>
          <a:solidFill>
            <a:srgbClr val="FFFFFF"/>
          </a:solidFill>
          <a:ln w="0">
            <a:solidFill>
              <a:srgbClr val="000000">
                <a:alpha val="0"/>
              </a:srgbClr>
            </a:solidFill>
            <a:prstDash val="solid"/>
          </a:ln>
        </p:spPr>
        <p:txBody>
          <a:bodyPr/>
          <a:lstStyle/>
          <a:p>
            <a:endParaRPr/>
          </a:p>
        </p:txBody>
      </p:sp>
      <p:sp>
        <p:nvSpPr>
          <p:cNvPr id="5" name="Total trades I alt">
            <a:extLst>
              <a:ext uri="{FF2B5EF4-FFF2-40B4-BE49-F238E27FC236}">
                <a16:creationId xmlns:a16="http://schemas.microsoft.com/office/drawing/2014/main" id="{1F94CC27-B148-4F4A-9C62-3CAD86944CE0}"/>
              </a:ext>
            </a:extLst>
          </p:cNvPr>
          <p:cNvSpPr>
            <a:spLocks noGrp="1"/>
          </p:cNvSpPr>
          <p:nvPr/>
        </p:nvSpPr>
        <p:spPr>
          <a:xfrm>
            <a:off x="8181975" y="6038850"/>
            <a:ext cx="5905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525" b="1">
                <a:solidFill>
                  <a:srgbClr val="26364F"/>
                </a:solidFill>
                <a:latin typeface="Aptos"/>
                <a:ea typeface="Aptos"/>
                <a:cs typeface="Aptos"/>
              </a:defRPr>
            </a:pPr>
            <a:r>
              <a:rPr sz="525" b="1">
                <a:solidFill>
                  <a:srgbClr val="26364F"/>
                </a:solidFill>
                <a:latin typeface="Aptos"/>
                <a:ea typeface="Aptos"/>
                <a:cs typeface="Aptos"/>
              </a:rPr>
              <a:t>I alt</a:t>
            </a:r>
          </a:p>
        </p:txBody>
      </p:sp>
      <p:sp>
        <p:nvSpPr>
          <p:cNvPr id="90" name="Total trades 31">
            <a:extLst>
              <a:ext uri="{FF2B5EF4-FFF2-40B4-BE49-F238E27FC236}">
                <a16:creationId xmlns:a16="http://schemas.microsoft.com/office/drawing/2014/main" id="{EA7517A7-77C8-468C-8575-B2B26B7E5FCE}"/>
              </a:ext>
            </a:extLst>
          </p:cNvPr>
          <p:cNvSpPr>
            <a:spLocks noGrp="1"/>
          </p:cNvSpPr>
          <p:nvPr/>
        </p:nvSpPr>
        <p:spPr>
          <a:xfrm>
            <a:off x="9944100" y="6038850"/>
            <a:ext cx="4953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525" b="1">
                <a:solidFill>
                  <a:srgbClr val="26364F"/>
                </a:solidFill>
                <a:latin typeface="Aptos"/>
                <a:ea typeface="Aptos"/>
                <a:cs typeface="Aptos"/>
              </a:defRPr>
            </a:pPr>
            <a:r>
              <a:rPr sz="525" b="1">
                <a:solidFill>
                  <a:srgbClr val="26364F"/>
                </a:solidFill>
                <a:latin typeface="Aptos"/>
                <a:ea typeface="Aptos"/>
                <a:cs typeface="Aptos"/>
              </a:rPr>
              <a:t>31</a:t>
            </a:r>
          </a:p>
        </p:txBody>
      </p:sp>
    </p:spTree>
    <p:extLst>
      <p:ext uri="{BB962C8B-B14F-4D97-AF65-F5344CB8AC3E}">
        <p14:creationId xmlns:p14="http://schemas.microsoft.com/office/powerpoint/2010/main" val="1931821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ktangel 32">
            <a:extLst>
              <a:ext uri="{FF2B5EF4-FFF2-40B4-BE49-F238E27FC236}">
                <a16:creationId xmlns:a16="http://schemas.microsoft.com/office/drawing/2014/main" id="{549D9C9B-9455-4459-BDA9-F63AF90C8306}"/>
              </a:ext>
            </a:extLst>
          </p:cNvPr>
          <p:cNvSpPr>
            <a:spLocks noGrp="1" noRot="1" noMove="1" noResize="1" noEditPoints="1" noAdjustHandles="1" noChangeArrowheads="1" noChangeShapeType="1"/>
          </p:cNvSpPr>
          <p:nvPr/>
        </p:nvSpPr>
        <p:spPr>
          <a:xfrm>
            <a:off x="0" y="191807"/>
            <a:ext cx="12192000" cy="6724650"/>
          </a:xfrm>
          <a:prstGeom prst="rect">
            <a:avLst/>
          </a:prstGeom>
          <a:solidFill>
            <a:srgbClr val="F7F5F0"/>
          </a:solidFill>
          <a:ln w="0">
            <a:solidFill>
              <a:srgbClr val="000000">
                <a:alpha val="0"/>
              </a:srgbClr>
            </a:solidFill>
            <a:prstDash val="solid"/>
          </a:ln>
        </p:spPr>
        <p:txBody>
          <a:bodyPr/>
          <a:lstStyle/>
          <a:p>
            <a:endParaRPr/>
          </a:p>
        </p:txBody>
      </p:sp>
      <p:sp>
        <p:nvSpPr>
          <p:cNvPr id="2" name="Rektangel 1">
            <a:extLst>
              <a:ext uri="{FF2B5EF4-FFF2-40B4-BE49-F238E27FC236}">
                <a16:creationId xmlns:a16="http://schemas.microsoft.com/office/drawing/2014/main" id="{C2427B41-93FE-42C8-9B2A-B1304D44DFD1}"/>
              </a:ext>
            </a:extLst>
          </p:cNvPr>
          <p:cNvSpPr>
            <a:spLocks noGrp="1"/>
          </p:cNvSpPr>
          <p:nvPr/>
        </p:nvSpPr>
        <p:spPr>
          <a:xfrm>
            <a:off x="0" y="0"/>
            <a:ext cx="12192000" cy="990600"/>
          </a:xfrm>
          <a:prstGeom prst="rect">
            <a:avLst/>
          </a:prstGeom>
          <a:solidFill>
            <a:srgbClr val="14213D"/>
          </a:solidFill>
          <a:ln w="0">
            <a:solidFill>
              <a:srgbClr val="000000">
                <a:alpha val="0"/>
              </a:srgbClr>
            </a:solidFill>
            <a:prstDash val="solid"/>
          </a:ln>
        </p:spPr>
        <p:txBody>
          <a:bodyPr/>
          <a:lstStyle/>
          <a:p>
            <a:endParaRPr/>
          </a:p>
        </p:txBody>
      </p:sp>
      <p:sp>
        <p:nvSpPr>
          <p:cNvPr id="3" name="Rektangel 2">
            <a:extLst>
              <a:ext uri="{FF2B5EF4-FFF2-40B4-BE49-F238E27FC236}">
                <a16:creationId xmlns:a16="http://schemas.microsoft.com/office/drawing/2014/main" id="{1EB6CBFE-AF96-458D-B7AC-8A02A1CE668E}"/>
              </a:ext>
            </a:extLst>
          </p:cNvPr>
          <p:cNvSpPr>
            <a:spLocks noGrp="1"/>
          </p:cNvSpPr>
          <p:nvPr/>
        </p:nvSpPr>
        <p:spPr>
          <a:xfrm>
            <a:off x="400050" y="133350"/>
            <a:ext cx="2095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7C0D4"/>
                </a:solidFill>
                <a:latin typeface="Aptos"/>
                <a:ea typeface="Aptos"/>
                <a:cs typeface="Aptos"/>
              </a:defRPr>
            </a:pPr>
            <a:r>
              <a:rPr sz="900" b="1">
                <a:solidFill>
                  <a:srgbClr val="B7C0D4"/>
                </a:solidFill>
                <a:latin typeface="Aptos"/>
                <a:ea typeface="Aptos"/>
                <a:cs typeface="Aptos"/>
              </a:rPr>
              <a:t>KONKLUSION</a:t>
            </a:r>
          </a:p>
        </p:txBody>
      </p:sp>
      <p:sp>
        <p:nvSpPr>
          <p:cNvPr id="4" name="Rektangel 3">
            <a:extLst>
              <a:ext uri="{FF2B5EF4-FFF2-40B4-BE49-F238E27FC236}">
                <a16:creationId xmlns:a16="http://schemas.microsoft.com/office/drawing/2014/main" id="{3CFD45C6-01F8-487A-8BF4-FCD529F61C2F}"/>
              </a:ext>
            </a:extLst>
          </p:cNvPr>
          <p:cNvSpPr>
            <a:spLocks noGrp="1"/>
          </p:cNvSpPr>
          <p:nvPr/>
        </p:nvSpPr>
        <p:spPr>
          <a:xfrm>
            <a:off x="400050" y="419100"/>
            <a:ext cx="7810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FFFFFF"/>
                </a:solidFill>
                <a:latin typeface="Aptos"/>
                <a:ea typeface="Aptos"/>
                <a:cs typeface="Aptos"/>
              </a:defRPr>
            </a:pPr>
            <a:r>
              <a:rPr sz="2100" b="1">
                <a:solidFill>
                  <a:srgbClr val="FFFFFF"/>
                </a:solidFill>
                <a:latin typeface="Aptos"/>
                <a:ea typeface="Aptos"/>
                <a:cs typeface="Aptos"/>
              </a:rPr>
              <a:t>Kun en simple demo</a:t>
            </a:r>
          </a:p>
        </p:txBody>
      </p:sp>
      <p:sp>
        <p:nvSpPr>
          <p:cNvPr id="6" name="Rektangel 5">
            <a:extLst>
              <a:ext uri="{FF2B5EF4-FFF2-40B4-BE49-F238E27FC236}">
                <a16:creationId xmlns:a16="http://schemas.microsoft.com/office/drawing/2014/main" id="{536D3304-25E8-4A3C-A87C-ABC637C2185E}"/>
              </a:ext>
            </a:extLst>
          </p:cNvPr>
          <p:cNvSpPr>
            <a:spLocks noGrp="1"/>
          </p:cNvSpPr>
          <p:nvPr/>
        </p:nvSpPr>
        <p:spPr>
          <a:xfrm>
            <a:off x="446180" y="1381124"/>
            <a:ext cx="8213725" cy="923925"/>
          </a:xfrm>
          <a:prstGeom prst="rect">
            <a:avLst/>
          </a:prstGeom>
          <a:solidFill>
            <a:srgbClr val="000000">
              <a:alpha val="0"/>
            </a:srgbClr>
          </a:solidFill>
          <a:ln w="0">
            <a:solidFill>
              <a:srgbClr val="000000">
                <a:alpha val="0"/>
              </a:srgbClr>
            </a:solidFill>
            <a:prstDash val="solid"/>
          </a:ln>
        </p:spPr>
        <p:txBody>
          <a:bodyPr lIns="0" tIns="0" rIns="0" bIns="0" anchor="t"/>
          <a:lstStyle/>
          <a:p>
            <a:pPr>
              <a:buNone/>
              <a:defRPr sz="1800" b="1">
                <a:solidFill>
                  <a:srgbClr val="17233D"/>
                </a:solidFill>
                <a:latin typeface="Aptos"/>
                <a:ea typeface="Aptos"/>
                <a:cs typeface="Aptos"/>
              </a:defRPr>
            </a:pPr>
            <a:r>
              <a:rPr sz="1800" b="1">
                <a:solidFill>
                  <a:srgbClr val="17233D"/>
                </a:solidFill>
                <a:latin typeface="Aptos"/>
                <a:ea typeface="Aptos"/>
                <a:cs typeface="Aptos"/>
              </a:rPr>
              <a:t>Projektet viser, hvordan en 200 dages SMA strategi kan testes på historiske AAPL data. Resultaterne er positive, men projektet er kun en demo og ikke et færdigt handelssystem.</a:t>
            </a:r>
          </a:p>
        </p:txBody>
      </p:sp>
      <p:sp>
        <p:nvSpPr>
          <p:cNvPr id="16" name="Rektangel 15">
            <a:extLst>
              <a:ext uri="{FF2B5EF4-FFF2-40B4-BE49-F238E27FC236}">
                <a16:creationId xmlns:a16="http://schemas.microsoft.com/office/drawing/2014/main" id="{586EEEE2-6CEC-4167-998F-B1BA1E4FB613}"/>
              </a:ext>
            </a:extLst>
          </p:cNvPr>
          <p:cNvSpPr>
            <a:spLocks noGrp="1"/>
          </p:cNvSpPr>
          <p:nvPr/>
        </p:nvSpPr>
        <p:spPr>
          <a:xfrm>
            <a:off x="590550" y="2457450"/>
            <a:ext cx="2476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D64F4F"/>
                </a:solidFill>
                <a:latin typeface="Aptos"/>
                <a:ea typeface="Aptos"/>
                <a:cs typeface="Aptos"/>
              </a:defRPr>
            </a:pPr>
            <a:r>
              <a:rPr sz="1125" b="1">
                <a:solidFill>
                  <a:srgbClr val="D64F4F"/>
                </a:solidFill>
                <a:latin typeface="Aptos"/>
                <a:ea typeface="Aptos"/>
                <a:cs typeface="Aptos"/>
              </a:rPr>
              <a:t>Begrænsninger</a:t>
            </a:r>
          </a:p>
        </p:txBody>
      </p:sp>
      <p:sp>
        <p:nvSpPr>
          <p:cNvPr id="17" name="Rektangel 16">
            <a:extLst>
              <a:ext uri="{FF2B5EF4-FFF2-40B4-BE49-F238E27FC236}">
                <a16:creationId xmlns:a16="http://schemas.microsoft.com/office/drawing/2014/main" id="{297BCD8A-28F1-45AA-9D0A-A2FE4A1339E0}"/>
              </a:ext>
            </a:extLst>
          </p:cNvPr>
          <p:cNvSpPr>
            <a:spLocks noGrp="1"/>
          </p:cNvSpPr>
          <p:nvPr/>
        </p:nvSpPr>
        <p:spPr>
          <a:xfrm>
            <a:off x="590550" y="2867025"/>
            <a:ext cx="66675" cy="66675"/>
          </a:xfrm>
          <a:prstGeom prst="rect">
            <a:avLst/>
          </a:prstGeom>
          <a:solidFill>
            <a:srgbClr val="D64F4F"/>
          </a:solidFill>
          <a:ln w="0">
            <a:solidFill>
              <a:srgbClr val="000000">
                <a:alpha val="0"/>
              </a:srgbClr>
            </a:solidFill>
            <a:prstDash val="solid"/>
          </a:ln>
        </p:spPr>
        <p:txBody>
          <a:bodyPr/>
          <a:lstStyle/>
          <a:p>
            <a:endParaRPr/>
          </a:p>
        </p:txBody>
      </p:sp>
      <p:sp>
        <p:nvSpPr>
          <p:cNvPr id="18" name="Rektangel 17">
            <a:extLst>
              <a:ext uri="{FF2B5EF4-FFF2-40B4-BE49-F238E27FC236}">
                <a16:creationId xmlns:a16="http://schemas.microsoft.com/office/drawing/2014/main" id="{E235F90D-A9EA-4955-A416-1024DC7EEA50}"/>
              </a:ext>
            </a:extLst>
          </p:cNvPr>
          <p:cNvSpPr>
            <a:spLocks noGrp="1"/>
          </p:cNvSpPr>
          <p:nvPr/>
        </p:nvSpPr>
        <p:spPr>
          <a:xfrm>
            <a:off x="762000" y="2819400"/>
            <a:ext cx="5334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buNone/>
              <a:defRPr sz="1050" b="0">
                <a:solidFill>
                  <a:srgbClr val="17233D"/>
                </a:solidFill>
                <a:latin typeface="Aptos"/>
                <a:ea typeface="Aptos"/>
                <a:cs typeface="Aptos"/>
              </a:defRPr>
            </a:pPr>
            <a:r>
              <a:rPr sz="1050"/>
              <a:t> En simpel strategi er testet.</a:t>
            </a:r>
          </a:p>
        </p:txBody>
      </p:sp>
      <p:sp>
        <p:nvSpPr>
          <p:cNvPr id="19" name="Rektangel 18">
            <a:extLst>
              <a:ext uri="{FF2B5EF4-FFF2-40B4-BE49-F238E27FC236}">
                <a16:creationId xmlns:a16="http://schemas.microsoft.com/office/drawing/2014/main" id="{E87620CB-1729-49E6-B348-7283843BEB2F}"/>
              </a:ext>
            </a:extLst>
          </p:cNvPr>
          <p:cNvSpPr>
            <a:spLocks noGrp="1"/>
          </p:cNvSpPr>
          <p:nvPr/>
        </p:nvSpPr>
        <p:spPr>
          <a:xfrm>
            <a:off x="590550" y="3438525"/>
            <a:ext cx="66675" cy="66675"/>
          </a:xfrm>
          <a:prstGeom prst="rect">
            <a:avLst/>
          </a:prstGeom>
          <a:solidFill>
            <a:srgbClr val="D64F4F"/>
          </a:solidFill>
          <a:ln w="0">
            <a:solidFill>
              <a:srgbClr val="000000">
                <a:alpha val="0"/>
              </a:srgbClr>
            </a:solidFill>
            <a:prstDash val="solid"/>
          </a:ln>
        </p:spPr>
        <p:txBody>
          <a:bodyPr/>
          <a:lstStyle/>
          <a:p>
            <a:endParaRPr/>
          </a:p>
        </p:txBody>
      </p:sp>
      <p:sp>
        <p:nvSpPr>
          <p:cNvPr id="20" name="Rektangel 19">
            <a:extLst>
              <a:ext uri="{FF2B5EF4-FFF2-40B4-BE49-F238E27FC236}">
                <a16:creationId xmlns:a16="http://schemas.microsoft.com/office/drawing/2014/main" id="{A352FF60-9A06-41AF-85A5-B662817E2ECA}"/>
              </a:ext>
            </a:extLst>
          </p:cNvPr>
          <p:cNvSpPr>
            <a:spLocks noGrp="1"/>
          </p:cNvSpPr>
          <p:nvPr/>
        </p:nvSpPr>
        <p:spPr>
          <a:xfrm>
            <a:off x="762000" y="3390900"/>
            <a:ext cx="5334000" cy="320488"/>
          </a:xfrm>
          <a:prstGeom prst="rect">
            <a:avLst/>
          </a:prstGeom>
          <a:solidFill>
            <a:srgbClr val="000000">
              <a:alpha val="0"/>
            </a:srgbClr>
          </a:solidFill>
          <a:ln w="0">
            <a:solidFill>
              <a:srgbClr val="000000">
                <a:alpha val="0"/>
              </a:srgbClr>
            </a:solidFill>
            <a:prstDash val="solid"/>
          </a:ln>
        </p:spPr>
        <p:txBody>
          <a:bodyPr lIns="0" tIns="0" rIns="0" bIns="0" anchor="t"/>
          <a:lstStyle/>
          <a:p>
            <a:pPr>
              <a:buNone/>
              <a:defRPr sz="1050" b="0">
                <a:solidFill>
                  <a:srgbClr val="17233D"/>
                </a:solidFill>
                <a:latin typeface="Aptos"/>
                <a:ea typeface="Aptos"/>
                <a:cs typeface="Aptos"/>
              </a:defRPr>
            </a:pPr>
            <a:r>
              <a:rPr sz="1050"/>
              <a:t>Kun kommission er inkluderet; øvrige handelsomkostninger som spread, slippage og valutagebyrer er ikke medregnet.</a:t>
            </a:r>
            <a:br/>
            <a:endParaRPr/>
          </a:p>
        </p:txBody>
      </p:sp>
      <p:sp>
        <p:nvSpPr>
          <p:cNvPr id="21" name="Rektangel 20">
            <a:extLst>
              <a:ext uri="{FF2B5EF4-FFF2-40B4-BE49-F238E27FC236}">
                <a16:creationId xmlns:a16="http://schemas.microsoft.com/office/drawing/2014/main" id="{1E117825-CCFE-41C0-BB11-5CF3609C6AA3}"/>
              </a:ext>
            </a:extLst>
          </p:cNvPr>
          <p:cNvSpPr>
            <a:spLocks noGrp="1"/>
          </p:cNvSpPr>
          <p:nvPr/>
        </p:nvSpPr>
        <p:spPr>
          <a:xfrm>
            <a:off x="590550" y="4010025"/>
            <a:ext cx="66675" cy="66675"/>
          </a:xfrm>
          <a:prstGeom prst="rect">
            <a:avLst/>
          </a:prstGeom>
          <a:solidFill>
            <a:srgbClr val="D64F4F"/>
          </a:solidFill>
          <a:ln w="0">
            <a:solidFill>
              <a:srgbClr val="000000">
                <a:alpha val="0"/>
              </a:srgbClr>
            </a:solidFill>
            <a:prstDash val="solid"/>
          </a:ln>
        </p:spPr>
        <p:txBody>
          <a:bodyPr/>
          <a:lstStyle/>
          <a:p>
            <a:endParaRPr/>
          </a:p>
        </p:txBody>
      </p:sp>
      <p:sp>
        <p:nvSpPr>
          <p:cNvPr id="22" name="Rektangel 21">
            <a:extLst>
              <a:ext uri="{FF2B5EF4-FFF2-40B4-BE49-F238E27FC236}">
                <a16:creationId xmlns:a16="http://schemas.microsoft.com/office/drawing/2014/main" id="{2AB5CB87-85FB-4C75-A066-D48B91BC339F}"/>
              </a:ext>
            </a:extLst>
          </p:cNvPr>
          <p:cNvSpPr>
            <a:spLocks noGrp="1"/>
          </p:cNvSpPr>
          <p:nvPr/>
        </p:nvSpPr>
        <p:spPr>
          <a:xfrm>
            <a:off x="762000" y="3962400"/>
            <a:ext cx="3307976" cy="266700"/>
          </a:xfrm>
          <a:prstGeom prst="rect">
            <a:avLst/>
          </a:prstGeom>
          <a:solidFill>
            <a:srgbClr val="000000">
              <a:alpha val="0"/>
            </a:srgbClr>
          </a:solidFill>
          <a:ln w="0">
            <a:solidFill>
              <a:srgbClr val="000000">
                <a:alpha val="0"/>
              </a:srgbClr>
            </a:solidFill>
            <a:prstDash val="solid"/>
          </a:ln>
        </p:spPr>
        <p:txBody>
          <a:bodyPr lIns="0" tIns="0" rIns="0" bIns="0" anchor="t"/>
          <a:lstStyle/>
          <a:p>
            <a:r>
              <a:rPr sz="1050">
                <a:latin typeface="Aptos"/>
                <a:ea typeface="Aptos"/>
                <a:cs typeface="Aptos"/>
              </a:rPr>
              <a:t>Risikostyring og parameteroptimering mangler.</a:t>
            </a:r>
          </a:p>
        </p:txBody>
      </p:sp>
      <p:sp>
        <p:nvSpPr>
          <p:cNvPr id="27" name="Rektangel 26">
            <a:extLst>
              <a:ext uri="{FF2B5EF4-FFF2-40B4-BE49-F238E27FC236}">
                <a16:creationId xmlns:a16="http://schemas.microsoft.com/office/drawing/2014/main" id="{090A4D30-EE01-4A20-9AA2-35BF9DFD2803}"/>
              </a:ext>
            </a:extLst>
          </p:cNvPr>
          <p:cNvSpPr>
            <a:spLocks noGrp="1"/>
          </p:cNvSpPr>
          <p:nvPr/>
        </p:nvSpPr>
        <p:spPr>
          <a:xfrm>
            <a:off x="6362700" y="3390900"/>
            <a:ext cx="5334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0">
                <a:solidFill>
                  <a:srgbClr val="17233D"/>
                </a:solidFill>
                <a:latin typeface="Aptos"/>
                <a:ea typeface="Aptos"/>
                <a:cs typeface="Aptos"/>
              </a:defRPr>
            </a:pPr>
            <a:endParaRPr/>
          </a:p>
        </p:txBody>
      </p:sp>
      <p:sp>
        <p:nvSpPr>
          <p:cNvPr id="7" name="Rektangel 6">
            <a:extLst>
              <a:ext uri="{FF2B5EF4-FFF2-40B4-BE49-F238E27FC236}">
                <a16:creationId xmlns:a16="http://schemas.microsoft.com/office/drawing/2014/main" id="{2F30CDFF-7247-CCF8-8635-C995AAE7DB7F}"/>
              </a:ext>
            </a:extLst>
          </p:cNvPr>
          <p:cNvSpPr>
            <a:spLocks noGrp="1"/>
          </p:cNvSpPr>
          <p:nvPr/>
        </p:nvSpPr>
        <p:spPr>
          <a:xfrm>
            <a:off x="590549" y="4562475"/>
            <a:ext cx="66675" cy="66675"/>
          </a:xfrm>
          <a:prstGeom prst="rect">
            <a:avLst/>
          </a:prstGeom>
          <a:solidFill>
            <a:srgbClr val="D64F4F"/>
          </a:solidFill>
          <a:ln w="0">
            <a:solidFill>
              <a:srgbClr val="000000">
                <a:alpha val="0"/>
              </a:srgbClr>
            </a:solidFill>
            <a:prstDash val="solid"/>
          </a:ln>
        </p:spPr>
        <p:txBody>
          <a:bodyPr/>
          <a:lstStyle/>
          <a:p>
            <a:endParaRPr/>
          </a:p>
        </p:txBody>
      </p:sp>
      <p:sp>
        <p:nvSpPr>
          <p:cNvPr id="9" name="Rektangel 8">
            <a:extLst>
              <a:ext uri="{FF2B5EF4-FFF2-40B4-BE49-F238E27FC236}">
                <a16:creationId xmlns:a16="http://schemas.microsoft.com/office/drawing/2014/main" id="{902A8456-DDC6-0345-F2FE-9166F5917657}"/>
              </a:ext>
            </a:extLst>
          </p:cNvPr>
          <p:cNvSpPr>
            <a:spLocks noGrp="1"/>
          </p:cNvSpPr>
          <p:nvPr/>
        </p:nvSpPr>
        <p:spPr>
          <a:xfrm>
            <a:off x="762000" y="4524374"/>
            <a:ext cx="3307976" cy="266700"/>
          </a:xfrm>
          <a:prstGeom prst="rect">
            <a:avLst/>
          </a:prstGeom>
          <a:solidFill>
            <a:srgbClr val="000000">
              <a:alpha val="0"/>
            </a:srgbClr>
          </a:solidFill>
          <a:ln w="0">
            <a:solidFill>
              <a:srgbClr val="000000">
                <a:alpha val="0"/>
              </a:srgbClr>
            </a:solidFill>
            <a:prstDash val="solid"/>
          </a:ln>
        </p:spPr>
        <p:txBody>
          <a:bodyPr lIns="0" tIns="0" rIns="0" bIns="0" anchor="t"/>
          <a:lstStyle/>
          <a:p>
            <a:r>
              <a:rPr sz="1050">
                <a:latin typeface="Aptos"/>
                <a:ea typeface="Aptos"/>
                <a:cs typeface="Aptos"/>
              </a:rPr>
              <a:t>Brug en anden datakilde end yfinance.</a:t>
            </a:r>
          </a:p>
        </p:txBody>
      </p:sp>
      <p:sp>
        <p:nvSpPr>
          <p:cNvPr id="10" name="Rektangel 9">
            <a:extLst>
              <a:ext uri="{FF2B5EF4-FFF2-40B4-BE49-F238E27FC236}">
                <a16:creationId xmlns:a16="http://schemas.microsoft.com/office/drawing/2014/main" id="{CAF19134-114C-3FBA-2EFB-71F1E5519161}"/>
              </a:ext>
            </a:extLst>
          </p:cNvPr>
          <p:cNvSpPr>
            <a:spLocks noGrp="1"/>
          </p:cNvSpPr>
          <p:nvPr/>
        </p:nvSpPr>
        <p:spPr>
          <a:xfrm>
            <a:off x="761999" y="5106052"/>
            <a:ext cx="6069107" cy="320487"/>
          </a:xfrm>
          <a:prstGeom prst="rect">
            <a:avLst/>
          </a:prstGeom>
          <a:solidFill>
            <a:srgbClr val="000000">
              <a:alpha val="0"/>
            </a:srgbClr>
          </a:solidFill>
          <a:ln w="0">
            <a:solidFill>
              <a:srgbClr val="000000">
                <a:alpha val="0"/>
              </a:srgbClr>
            </a:solidFill>
            <a:prstDash val="solid"/>
          </a:ln>
        </p:spPr>
        <p:txBody>
          <a:bodyPr lIns="0" tIns="0" rIns="0" bIns="0" anchor="t"/>
          <a:lstStyle/>
          <a:p>
            <a:r>
              <a:rPr sz="1050">
                <a:latin typeface="Aptos"/>
                <a:ea typeface="Aptos"/>
                <a:cs typeface="Aptos"/>
              </a:rPr>
              <a:t>Bygget fra bunden i Python, ikke på en specialiseret platform som MultiCharts eller QuantConnect.</a:t>
            </a:r>
          </a:p>
        </p:txBody>
      </p:sp>
      <p:sp>
        <p:nvSpPr>
          <p:cNvPr id="12" name="Rektangel 11">
            <a:extLst>
              <a:ext uri="{FF2B5EF4-FFF2-40B4-BE49-F238E27FC236}">
                <a16:creationId xmlns:a16="http://schemas.microsoft.com/office/drawing/2014/main" id="{0BF46B47-1BA8-4118-ADC3-EA916484B6C0}"/>
              </a:ext>
            </a:extLst>
          </p:cNvPr>
          <p:cNvSpPr>
            <a:spLocks noGrp="1"/>
          </p:cNvSpPr>
          <p:nvPr/>
        </p:nvSpPr>
        <p:spPr>
          <a:xfrm flipH="1">
            <a:off x="589423" y="5155553"/>
            <a:ext cx="64800" cy="64800"/>
          </a:xfrm>
          <a:prstGeom prst="rect">
            <a:avLst/>
          </a:prstGeom>
          <a:solidFill>
            <a:srgbClr val="D64F4F"/>
          </a:solidFill>
          <a:ln w="0">
            <a:solidFill>
              <a:srgbClr val="000000">
                <a:alpha val="0"/>
              </a:srgbClr>
            </a:solidFill>
            <a:prstDash val="solid"/>
          </a:ln>
        </p:spPr>
        <p:txBody>
          <a:bodyPr/>
          <a:lstStyle/>
          <a:p>
            <a:endParaRPr/>
          </a:p>
        </p:txBody>
      </p:sp>
    </p:spTree>
    <p:extLst>
      <p:ext uri="{BB962C8B-B14F-4D97-AF65-F5344CB8AC3E}">
        <p14:creationId xmlns:p14="http://schemas.microsoft.com/office/powerpoint/2010/main" val="49466487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Override1.xml><?xml version="1.0" encoding="utf-8"?>
<a:themeOverride xmlns:a="http://schemas.openxmlformats.org/drawingml/2006/main">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5</TotalTime>
  <Words>490</Words>
  <Application>Microsoft Macintosh PowerPoint</Application>
  <DocSecurity>0</DocSecurity>
  <PresentationFormat>Widescreen</PresentationFormat>
  <Paragraphs>104</Paragraphs>
  <Slides>4</Slides>
  <Notes>4</Notes>
  <HiddenSlides>0</HiddenSlides>
  <MMClips>0</MMClips>
  <ScaleCrop>false</ScaleCrop>
  <HeadingPairs>
    <vt:vector size="6" baseType="variant">
      <vt:variant>
        <vt:lpstr>Benyttede skrifttyper</vt:lpstr>
      </vt:variant>
      <vt:variant>
        <vt:i4>2</vt:i4>
      </vt:variant>
      <vt:variant>
        <vt:lpstr>Tema</vt:lpstr>
      </vt:variant>
      <vt:variant>
        <vt:i4>1</vt:i4>
      </vt:variant>
      <vt:variant>
        <vt:lpstr>Slidetitler</vt:lpstr>
      </vt:variant>
      <vt:variant>
        <vt:i4>4</vt:i4>
      </vt:variant>
    </vt:vector>
  </HeadingPairs>
  <TitlesOfParts>
    <vt:vector size="7" baseType="lpstr">
      <vt:lpstr>Aptos</vt:lpstr>
      <vt:lpstr>Calibri</vt:lpstr>
      <vt:lpstr>ChatGPT</vt:lpstr>
      <vt:lpstr>PowerPoint-præsentation</vt:lpstr>
      <vt:lpstr>PowerPoint-præsentation</vt:lpstr>
      <vt:lpstr>PowerPoint-præsentation</vt:lpstr>
      <vt:lpstr>PowerPoint-præsentation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Areeb Qadeer Akhtar</cp:lastModifiedBy>
  <cp:revision>2</cp:revision>
  <dcterms:created xsi:type="dcterms:W3CDTF">2026-06-10T09:20:26Z</dcterms:created>
  <dcterms:modified xsi:type="dcterms:W3CDTF">2026-06-10T12:22:40Z</dcterms:modified>
</cp:coreProperties>
</file>