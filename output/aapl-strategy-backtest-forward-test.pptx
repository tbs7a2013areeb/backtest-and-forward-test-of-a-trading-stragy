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9c128c90de4f4b" /><Relationship Type="http://schemas.openxmlformats.org/officeDocument/2006/relationships/extended-properties" Target="/docProps/app.xml" Id="Rdf2e9565f9844c24" /><Relationship Type="http://schemas.openxmlformats.org/officeDocument/2006/relationships/officeDocument" Target="/ppt/presentation.xml" Id="Rba970b83f3b944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a9454ffe0843a5"/>
  </p:sldMasterIdLst>
  <p:notesMasterIdLst>
    <p:notesMasterId xmlns:r="http://schemas.openxmlformats.org/officeDocument/2006/relationships" r:id="R82dabc6898b64624"/>
  </p:notesMasterIdLst>
  <p:sldIdLst>
    <p:sldId xmlns:r="http://schemas.openxmlformats.org/officeDocument/2006/relationships" id="256" r:id="Ra534adbb7a8d4438"/>
    <p:sldId xmlns:r="http://schemas.openxmlformats.org/officeDocument/2006/relationships" id="257" r:id="Rfadf8219b18248cd"/>
    <p:sldId xmlns:r="http://schemas.openxmlformats.org/officeDocument/2006/relationships" id="258" r:id="Reb9996c67fba4932"/>
    <p:sldId xmlns:r="http://schemas.openxmlformats.org/officeDocument/2006/relationships" id="259" r:id="Rbd398b7bde13438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952bacf2de4f6e" /><Relationship Type="http://schemas.openxmlformats.org/officeDocument/2006/relationships/slideMaster" Target="/ppt/slideMasters/slideMaster1.xml" Id="Rc0a9454ffe0843a5" /><Relationship Type="http://schemas.openxmlformats.org/officeDocument/2006/relationships/notesMaster" Target="/ppt/notesMasters/notesMaster1.xml" Id="R82dabc6898b64624" /><Relationship Type="http://schemas.openxmlformats.org/officeDocument/2006/relationships/presProps" Target="/ppt/presProps.xml" Id="Ra1a43eac5eb84e37" /><Relationship Type="http://schemas.openxmlformats.org/officeDocument/2006/relationships/viewProps" Target="/ppt/viewProps.xml" Id="Re32dbe6683244fe2" /><Relationship Type="http://schemas.openxmlformats.org/officeDocument/2006/relationships/tableStyles" Target="/ppt/tableStyles.xml" Id="R75ddd7b690e54578" /><Relationship Type="http://schemas.openxmlformats.org/officeDocument/2006/relationships/slide" Target="/ppt/slides/slide1.xml" Id="Ra534adbb7a8d4438" /><Relationship Type="http://schemas.openxmlformats.org/officeDocument/2006/relationships/slide" Target="/ppt/slides/slide2.xml" Id="Rfadf8219b18248cd" /><Relationship Type="http://schemas.openxmlformats.org/officeDocument/2006/relationships/slide" Target="/ppt/slides/slide3.xml" Id="Reb9996c67fba4932" /><Relationship Type="http://schemas.openxmlformats.org/officeDocument/2006/relationships/slide" Target="/ppt/slides/slide4.xml" Id="Rbd398b7bde1343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23fe899ea04c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e82c6bf2c74d2e" /><Relationship Type="http://schemas.openxmlformats.org/officeDocument/2006/relationships/notesMaster" Target="/ppt/notesMasters/notesMaster1.xml" Id="Re944121c70f540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6c4d4ba5d34d53" /><Relationship Type="http://schemas.openxmlformats.org/officeDocument/2006/relationships/notesMaster" Target="/ppt/notesMasters/notesMaster1.xml" Id="Rce707a0c652d4d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6ab3d9ca8a4ece" /><Relationship Type="http://schemas.openxmlformats.org/officeDocument/2006/relationships/notesMaster" Target="/ppt/notesMasters/notesMaster1.xml" Id="R15107c1677d64e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8adb54870743f6" /><Relationship Type="http://schemas.openxmlformats.org/officeDocument/2006/relationships/notesMaster" Target="/ppt/notesMasters/notesMaster1.xml" Id="R6e6dffe8bc4743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8c0fa7bab4c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7c63a7b968422f" /><Relationship Type="http://schemas.openxmlformats.org/officeDocument/2006/relationships/slideLayout" Target="/ppt/slideLayouts/slideLayout1.xml" Id="R69e4f2cb84a949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e4f2cb84a949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716385e9e4cd5" /><Relationship Type="http://schemas.openxmlformats.org/officeDocument/2006/relationships/notesSlide" Target="/ppt/notesSlides/notesSlide1.xml" Id="R007e41455a6f4c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39c37ffcc4d28" /><Relationship Type="http://schemas.openxmlformats.org/officeDocument/2006/relationships/image" Target="/ppt/media/image.png" Id="Re26b71bb49364011" /><Relationship Type="http://schemas.openxmlformats.org/officeDocument/2006/relationships/image" Target="/ppt/media/image2.png" Id="R3c5aebb09c374cff" /><Relationship Type="http://schemas.openxmlformats.org/officeDocument/2006/relationships/notesSlide" Target="/ppt/notesSlides/notesSlide2.xml" Id="Rb9df81ffffd14a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06ef55e9a4978" /><Relationship Type="http://schemas.openxmlformats.org/officeDocument/2006/relationships/image" Target="/ppt/media/image3.png" Id="Raa77db14ae364871" /><Relationship Type="http://schemas.openxmlformats.org/officeDocument/2006/relationships/notesSlide" Target="/ppt/notesSlides/notesSlide3.xml" Id="R4c24bce8f91747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460ecf2cb4dd7" /><Relationship Type="http://schemas.openxmlformats.org/officeDocument/2006/relationships/notesSlide" Target="/ppt/notesSlides/notesSlide4.xml" Id="R33c4fd27a958411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ktangel 6">
            <a:extLst xmlns:a="http://schemas.openxmlformats.org/drawingml/2006/main">
              <a:ext uri="{FF2B5EF4-FFF2-40B4-BE49-F238E27FC236}">
                <a16:creationId xmlns:a16="http://schemas.microsoft.com/office/drawing/2014/main" id="{D2690692-026D-9BF1-AF0C-D35880DE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672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ktangel 1">
            <a:extLst xmlns:a="http://schemas.openxmlformats.org/drawingml/2006/main">
              <a:ext uri="{FF2B5EF4-FFF2-40B4-BE49-F238E27FC236}">
                <a16:creationId xmlns:a16="http://schemas.microsoft.com/office/drawing/2014/main" id="{808EAAEF-DB54-411C-BE0A-3BE64C2E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ktangel 2">
            <a:extLst xmlns:a="http://schemas.openxmlformats.org/drawingml/2006/main">
              <a:ext uri="{FF2B5EF4-FFF2-40B4-BE49-F238E27FC236}">
                <a16:creationId xmlns:a16="http://schemas.microsoft.com/office/drawing/2014/main" id="{DB602712-D9D3-4A55-BBD5-896A5ECF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7C0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C0D4"/>
                </a:solidFill>
                <a:latin typeface="Aptos"/>
                <a:ea typeface="Aptos"/>
                <a:cs typeface="Aptos"/>
              </a:rPr>
              <a:t>INTRODUKTION</a:t>
            </a:r>
          </a:p>
        </p:txBody>
      </p:sp>
      <p:sp>
        <p:nvSpPr>
          <p:cNvPr id="4" name="Rektangel 3">
            <a:extLst xmlns:a="http://schemas.openxmlformats.org/drawingml/2006/main">
              <a:ext uri="{FF2B5EF4-FFF2-40B4-BE49-F238E27FC236}">
                <a16:creationId xmlns:a16="http://schemas.microsoft.com/office/drawing/2014/main" id="{E6182633-6960-4C6C-845B-CD15B6EA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AAPL tradingstrategi</a:t>
            </a:r>
          </a:p>
        </p:txBody>
      </p:sp>
      <p:sp>
        <p:nvSpPr>
          <p:cNvPr id="6" name="Rektangel 5">
            <a:extLst xmlns:a="http://schemas.openxmlformats.org/drawingml/2006/main">
              <a:ext uri="{FF2B5EF4-FFF2-40B4-BE49-F238E27FC236}">
                <a16:creationId xmlns:a16="http://schemas.microsoft.com/office/drawing/2014/main" id="{747321C3-CD17-401A-B225-87157623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5715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D"/>
                </a:solidFill>
                <a:latin typeface="Aptos"/>
                <a:ea typeface="Aptos"/>
                <a:cs typeface="Aptos"/>
              </a:rPr>
              <a:t>Mål: </a:t>
            </a:r>
            <a:r>
              <a:t>At teste en 200 dages SMA trading strategi på AAPL og vurdere dens historiske performance og robusthed gennem backtest og walk forward test.</a:t>
            </a:r>
          </a:p>
        </p:txBody>
      </p:sp>
      <p:sp>
        <p:nvSpPr>
          <p:cNvPr id="15" name="Rektangel 14">
            <a:extLst xmlns:a="http://schemas.openxmlformats.org/drawingml/2006/main">
              <a:ext uri="{FF2B5EF4-FFF2-40B4-BE49-F238E27FC236}">
                <a16:creationId xmlns:a16="http://schemas.microsoft.com/office/drawing/2014/main" id="{6D5755B6-C5B9-48D7-8255-A97BDFDE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ktangel 15">
            <a:extLst xmlns:a="http://schemas.openxmlformats.org/drawingml/2006/main">
              <a:ext uri="{FF2B5EF4-FFF2-40B4-BE49-F238E27FC236}">
                <a16:creationId xmlns:a16="http://schemas.microsoft.com/office/drawing/2014/main" id="{27167EAA-8767-4EAE-9299-DD3FC8B2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28750"/>
            <a:ext cx="1457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D"/>
                </a:solidFill>
                <a:latin typeface="Aptos"/>
                <a:ea typeface="Aptos"/>
                <a:cs typeface="Aptos"/>
              </a:rPr>
              <a:t>AAPL</a:t>
            </a:r>
          </a:p>
        </p:txBody>
      </p:sp>
      <p:sp>
        <p:nvSpPr>
          <p:cNvPr id="17" name="Rektangel 16">
            <a:extLst xmlns:a="http://schemas.openxmlformats.org/drawingml/2006/main">
              <a:ext uri="{FF2B5EF4-FFF2-40B4-BE49-F238E27FC236}">
                <a16:creationId xmlns:a16="http://schemas.microsoft.com/office/drawing/2014/main" id="{CD99BDF4-5C62-483D-98EF-F51F6C50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52600"/>
            <a:ext cx="1457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Aktie</a:t>
            </a:r>
          </a:p>
        </p:txBody>
      </p:sp>
      <p:sp>
        <p:nvSpPr>
          <p:cNvPr id="18" name="Rektangel 17">
            <a:extLst xmlns:a="http://schemas.openxmlformats.org/drawingml/2006/main">
              <a:ext uri="{FF2B5EF4-FFF2-40B4-BE49-F238E27FC236}">
                <a16:creationId xmlns:a16="http://schemas.microsoft.com/office/drawing/2014/main" id="{010226E3-87DE-4D8B-9D61-63C400DE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5730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ktangel 18">
            <a:extLst xmlns:a="http://schemas.openxmlformats.org/drawingml/2006/main">
              <a:ext uri="{FF2B5EF4-FFF2-40B4-BE49-F238E27FC236}">
                <a16:creationId xmlns:a16="http://schemas.microsoft.com/office/drawing/2014/main" id="{500B0448-E044-482D-B480-A51154E9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28750"/>
            <a:ext cx="1457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E57C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E57C2"/>
                </a:solidFill>
                <a:latin typeface="Aptos"/>
                <a:ea typeface="Aptos"/>
                <a:cs typeface="Aptos"/>
              </a:rPr>
              <a:t>12+ år</a:t>
            </a:r>
          </a:p>
        </p:txBody>
      </p:sp>
      <p:sp>
        <p:nvSpPr>
          <p:cNvPr id="20" name="Rektangel 19">
            <a:extLst xmlns:a="http://schemas.openxmlformats.org/drawingml/2006/main">
              <a:ext uri="{FF2B5EF4-FFF2-40B4-BE49-F238E27FC236}">
                <a16:creationId xmlns:a16="http://schemas.microsoft.com/office/drawing/2014/main" id="{5AC01BF9-24E9-4077-B1EC-2A2FA0EC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52600"/>
            <a:ext cx="1457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Dataperiode hentet fra yfinance</a:t>
            </a:r>
          </a:p>
        </p:txBody>
      </p:sp>
      <p:sp>
        <p:nvSpPr>
          <p:cNvPr id="21" name="Rektangel 20">
            <a:extLst xmlns:a="http://schemas.openxmlformats.org/drawingml/2006/main">
              <a:ext uri="{FF2B5EF4-FFF2-40B4-BE49-F238E27FC236}">
                <a16:creationId xmlns:a16="http://schemas.microsoft.com/office/drawing/2014/main" id="{97F3A696-9CD7-454F-B92F-39313949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ktangel 21">
            <a:extLst xmlns:a="http://schemas.openxmlformats.org/drawingml/2006/main">
              <a:ext uri="{FF2B5EF4-FFF2-40B4-BE49-F238E27FC236}">
                <a16:creationId xmlns:a16="http://schemas.microsoft.com/office/drawing/2014/main" id="{1C62CB5F-4E3A-4E2C-9A9D-D108F766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71750"/>
            <a:ext cx="1457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D"/>
                </a:solidFill>
                <a:latin typeface="Aptos"/>
                <a:ea typeface="Aptos"/>
                <a:cs typeface="Aptos"/>
              </a:rPr>
              <a:t>200 dages</a:t>
            </a:r>
          </a:p>
        </p:txBody>
      </p:sp>
      <p:sp>
        <p:nvSpPr>
          <p:cNvPr id="23" name="Rektangel 22">
            <a:extLst xmlns:a="http://schemas.openxmlformats.org/drawingml/2006/main">
              <a:ext uri="{FF2B5EF4-FFF2-40B4-BE49-F238E27FC236}">
                <a16:creationId xmlns:a16="http://schemas.microsoft.com/office/drawing/2014/main" id="{24CA721E-AE94-49BB-A1D9-75647349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95600"/>
            <a:ext cx="1457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SMA </a:t>
            </a:r>
            <a:r>
              <a:rPr sz="75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strategi</a:t>
            </a:r>
          </a:p>
        </p:txBody>
      </p:sp>
      <p:sp>
        <p:nvSpPr>
          <p:cNvPr id="24" name="Rektangel 23">
            <a:extLst xmlns:a="http://schemas.openxmlformats.org/drawingml/2006/main">
              <a:ext uri="{FF2B5EF4-FFF2-40B4-BE49-F238E27FC236}">
                <a16:creationId xmlns:a16="http://schemas.microsoft.com/office/drawing/2014/main" id="{E491D53A-4DB9-4824-BA5B-A9ED62B9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ktangel 24">
            <a:extLst xmlns:a="http://schemas.openxmlformats.org/drawingml/2006/main">
              <a:ext uri="{FF2B5EF4-FFF2-40B4-BE49-F238E27FC236}">
                <a16:creationId xmlns:a16="http://schemas.microsoft.com/office/drawing/2014/main" id="{5D4FC2C2-E570-4F02-9DE8-5A674880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71750"/>
            <a:ext cx="1457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$10000</a:t>
            </a:r>
          </a:p>
        </p:txBody>
      </p:sp>
      <p:sp>
        <p:nvSpPr>
          <p:cNvPr id="26" name="Rektangel 25">
            <a:extLst xmlns:a="http://schemas.openxmlformats.org/drawingml/2006/main">
              <a:ext uri="{FF2B5EF4-FFF2-40B4-BE49-F238E27FC236}">
                <a16:creationId xmlns:a16="http://schemas.microsoft.com/office/drawing/2014/main" id="{70760631-3BB1-44C1-89DB-F08B81F1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95600"/>
            <a:ext cx="1457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Startkapital</a:t>
            </a:r>
          </a:p>
        </p:txBody>
      </p:sp>
      <p:sp>
        <p:nvSpPr>
          <p:cNvPr id="27" name="Rektangel 26">
            <a:extLst xmlns:a="http://schemas.openxmlformats.org/drawingml/2006/main">
              <a:ext uri="{FF2B5EF4-FFF2-40B4-BE49-F238E27FC236}">
                <a16:creationId xmlns:a16="http://schemas.microsoft.com/office/drawing/2014/main" id="{24CE1F28-5622-4F82-A82F-6300F18F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7814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ktangel 27">
            <a:extLst xmlns:a="http://schemas.openxmlformats.org/drawingml/2006/main">
              <a:ext uri="{FF2B5EF4-FFF2-40B4-BE49-F238E27FC236}">
                <a16:creationId xmlns:a16="http://schemas.microsoft.com/office/drawing/2014/main" id="{216CD109-E492-4665-8DB5-38044070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71925"/>
            <a:ext cx="3676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GitHub repo:</a:t>
            </a:r>
          </a:p>
        </p:txBody>
      </p:sp>
      <p:sp>
        <p:nvSpPr>
          <p:cNvPr id="29" name="Rektangel 28">
            <a:extLst xmlns:a="http://schemas.openxmlformats.org/drawingml/2006/main">
              <a:ext uri="{FF2B5EF4-FFF2-40B4-BE49-F238E27FC236}">
                <a16:creationId xmlns:a16="http://schemas.microsoft.com/office/drawing/2014/main" id="{4864F982-9954-4571-B822-2D1ACB2A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262437"/>
            <a:ext cx="3676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https://github.com/tbs7a2013areeb/Backtest-and-Forward-test-of-a-trading-stragy</a:t>
            </a:r>
          </a:p>
        </p:txBody>
      </p:sp>
      <p:sp>
        <p:nvSpPr>
          <p:cNvPr id="30" name="Rektangel 29">
            <a:extLst xmlns:a="http://schemas.openxmlformats.org/drawingml/2006/main">
              <a:ext uri="{FF2B5EF4-FFF2-40B4-BE49-F238E27FC236}">
                <a16:creationId xmlns:a16="http://schemas.microsoft.com/office/drawing/2014/main" id="{ED2E3E41-E1B9-48C3-8486-BB86CC1C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Datakilde: yfinance | Kode og output findes på GitHub</a:t>
            </a:r>
          </a:p>
        </p:txBody>
      </p:sp>
      <p:sp>
        <p:nvSpPr>
          <p:cNvPr id="32" name="Rektangel 31">
            <a:extLst xmlns:a="http://schemas.openxmlformats.org/drawingml/2006/main">
              <a:ext uri="{FF2B5EF4-FFF2-40B4-BE49-F238E27FC236}">
                <a16:creationId xmlns:a16="http://schemas.microsoft.com/office/drawing/2014/main" id="{3E98E4D0-D9E0-4F60-9FAA-52209154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50888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E57C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E57C2"/>
                </a:solidFill>
                <a:latin typeface="Aptos"/>
                <a:ea typeface="Aptos"/>
                <a:cs typeface="Aptos"/>
              </a:rPr>
              <a:t>Regler</a:t>
            </a:r>
          </a:p>
        </p:txBody>
      </p:sp>
      <p:sp>
        <p:nvSpPr>
          <p:cNvPr id="33" name="Rektangel 32">
            <a:extLst xmlns:a="http://schemas.openxmlformats.org/drawingml/2006/main">
              <a:ext uri="{FF2B5EF4-FFF2-40B4-BE49-F238E27FC236}">
                <a16:creationId xmlns:a16="http://schemas.microsoft.com/office/drawing/2014/main" id="{99C1A4B3-BA97-462B-9B9C-0671C24B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Rektangel 33">
            <a:extLst xmlns:a="http://schemas.openxmlformats.org/drawingml/2006/main">
              <a:ext uri="{FF2B5EF4-FFF2-40B4-BE49-F238E27FC236}">
                <a16:creationId xmlns:a16="http://schemas.microsoft.com/office/drawing/2014/main" id="{230E6CF1-A5CE-4048-A097-200BAEFB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Kun én åben position ad gangen</a:t>
            </a:r>
          </a:p>
        </p:txBody>
      </p:sp>
      <p:sp>
        <p:nvSpPr>
          <p:cNvPr id="35" name="Rektangel 34">
            <a:extLst xmlns:a="http://schemas.openxmlformats.org/drawingml/2006/main">
              <a:ext uri="{FF2B5EF4-FFF2-40B4-BE49-F238E27FC236}">
                <a16:creationId xmlns:a16="http://schemas.microsoft.com/office/drawing/2014/main" id="{FAB76D0A-6462-4F8C-B1C7-16F82649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Rektangel 35">
            <a:extLst xmlns:a="http://schemas.openxmlformats.org/drawingml/2006/main">
              <a:ext uri="{FF2B5EF4-FFF2-40B4-BE49-F238E27FC236}">
                <a16:creationId xmlns:a16="http://schemas.microsoft.com/office/drawing/2014/main" id="{FA54400E-DEB3-4DAC-BE24-C1230AB8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3D"/>
                </a:solidFill>
                <a:latin typeface="Aptos"/>
                <a:ea typeface="Aptos"/>
                <a:cs typeface="Aptos"/>
              </a:rPr>
              <a:t>Køb: </a:t>
            </a:r>
            <a:r>
              <a:rPr sz="1125"/>
              <a:t>Hvis AAPL kursen ligger over 200 dages SMA</a:t>
            </a:r>
          </a:p>
        </p:txBody>
      </p:sp>
      <p:sp>
        <p:nvSpPr>
          <p:cNvPr id="37" name="Rektangel 36">
            <a:extLst xmlns:a="http://schemas.openxmlformats.org/drawingml/2006/main">
              <a:ext uri="{FF2B5EF4-FFF2-40B4-BE49-F238E27FC236}">
                <a16:creationId xmlns:a16="http://schemas.microsoft.com/office/drawing/2014/main" id="{1124FDEA-48B2-4864-A1A6-6EB30081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Rektangel 37">
            <a:extLst xmlns:a="http://schemas.openxmlformats.org/drawingml/2006/main">
              <a:ext uri="{FF2B5EF4-FFF2-40B4-BE49-F238E27FC236}">
                <a16:creationId xmlns:a16="http://schemas.microsoft.com/office/drawing/2014/main" id="{E73C9F0E-EE9B-4649-8D2D-46E3B640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3D"/>
                </a:solidFill>
                <a:latin typeface="Aptos"/>
                <a:ea typeface="Aptos"/>
                <a:cs typeface="Aptos"/>
              </a:rPr>
              <a:t>Sælg: </a:t>
            </a:r>
            <a:r>
              <a:rPr sz="1125">
                <a:solidFill>
                  <a:srgbClr val="17233D"/>
                </a:solidFill>
                <a:latin typeface="Aptos"/>
                <a:ea typeface="Aptos"/>
                <a:cs typeface="Aptos"/>
              </a:rPr>
              <a:t>Hvis</a:t>
            </a:r>
            <a:r>
              <a:rPr sz="1125" b="1">
                <a:solidFill>
                  <a:srgbClr val="17233D"/>
                </a:solidFill>
                <a:latin typeface="Aptos"/>
                <a:ea typeface="Aptos"/>
                <a:cs typeface="Aptos"/>
              </a:rPr>
              <a:t> </a:t>
            </a:r>
            <a:r>
              <a:rPr sz="1125"/>
              <a:t>AAPL kursen ligger under 200 dages SMA</a:t>
            </a:r>
          </a:p>
        </p:txBody>
      </p:sp>
      <p:sp>
        <p:nvSpPr>
          <p:cNvPr id="39" name="Rektangel 38">
            <a:extLst xmlns:a="http://schemas.openxmlformats.org/drawingml/2006/main">
              <a:ext uri="{FF2B5EF4-FFF2-40B4-BE49-F238E27FC236}">
                <a16:creationId xmlns:a16="http://schemas.microsoft.com/office/drawing/2014/main" id="{980D9D7C-B067-4931-A4AE-A62F5FDA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Rektangel 39">
            <a:extLst xmlns:a="http://schemas.openxmlformats.org/drawingml/2006/main">
              <a:ext uri="{FF2B5EF4-FFF2-40B4-BE49-F238E27FC236}">
                <a16:creationId xmlns:a16="http://schemas.microsoft.com/office/drawing/2014/main" id="{27C61F4D-8517-4643-B939-B51F1AF7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7233D"/>
                </a:solidFill>
                <a:latin typeface="Aptos"/>
                <a:ea typeface="Aptos"/>
                <a:cs typeface="Aptos"/>
              </a:rPr>
              <a:t>Vi går kun lang. At gå kort er ikke tilladt</a:t>
            </a:r>
          </a:p>
        </p:txBody>
      </p:sp>
    </p:spTree>
    <p:extLst>
      <p:ext uri="{BB962C8B-B14F-4D97-AF65-F5344CB8AC3E}">
        <p14:creationId xmlns:p14="http://schemas.microsoft.com/office/powerpoint/2010/main" val="10921432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ktangel 35">
            <a:extLst xmlns:a="http://schemas.openxmlformats.org/drawingml/2006/main">
              <a:ext uri="{FF2B5EF4-FFF2-40B4-BE49-F238E27FC236}">
                <a16:creationId xmlns:a16="http://schemas.microsoft.com/office/drawing/2014/main" id="{D7263E57-C8AF-4192-87A2-FB215446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2192000" cy="672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ktangel 1">
            <a:extLst xmlns:a="http://schemas.openxmlformats.org/drawingml/2006/main">
              <a:ext uri="{FF2B5EF4-FFF2-40B4-BE49-F238E27FC236}">
                <a16:creationId xmlns:a16="http://schemas.microsoft.com/office/drawing/2014/main" id="{0613CDD5-2D5C-4E09-A20A-7665F06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ktangel 2">
            <a:extLst xmlns:a="http://schemas.openxmlformats.org/drawingml/2006/main">
              <a:ext uri="{FF2B5EF4-FFF2-40B4-BE49-F238E27FC236}">
                <a16:creationId xmlns:a16="http://schemas.microsoft.com/office/drawing/2014/main" id="{80FFDD5D-DC14-47E5-A21D-3920CCCE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7C0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C0D4"/>
                </a:solidFill>
                <a:latin typeface="Aptos"/>
                <a:ea typeface="Aptos"/>
                <a:cs typeface="Aptos"/>
              </a:rPr>
              <a:t>BACKTEST</a:t>
            </a:r>
          </a:p>
        </p:txBody>
      </p:sp>
      <p:sp>
        <p:nvSpPr>
          <p:cNvPr id="4" name="Rektangel 3">
            <a:extLst xmlns:a="http://schemas.openxmlformats.org/drawingml/2006/main">
              <a:ext uri="{FF2B5EF4-FFF2-40B4-BE49-F238E27FC236}">
                <a16:creationId xmlns:a16="http://schemas.microsoft.com/office/drawing/2014/main" id="{2B9B0B51-DE5B-4C42-B81B-227DC441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Backtesten</a:t>
            </a: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viser</a:t>
            </a: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stærk</a:t>
            </a: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vækst</a:t>
            </a: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 men </a:t>
            </a: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også</a:t>
            </a: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drawdown</a:t>
            </a: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risiko</a:t>
            </a:r>
          </a:p>
        </p:txBody>
      </p:sp>
      <p:sp>
        <p:nvSpPr>
          <p:cNvPr id="5" name="Rektangel 4">
            <a:extLst xmlns:a="http://schemas.openxmlformats.org/drawingml/2006/main">
              <a:ext uri="{FF2B5EF4-FFF2-40B4-BE49-F238E27FC236}">
                <a16:creationId xmlns:a16="http://schemas.microsoft.com/office/drawing/2014/main" id="{7DCA40B4-3E1C-46C1-90CA-FD3DC76C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5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D9DEE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DEE9"/>
                </a:solidFill>
                <a:latin typeface="Aptos"/>
                <a:ea typeface="Aptos"/>
                <a:cs typeface="Aptos"/>
              </a:rPr>
              <a:t>2014-2026</a:t>
            </a:r>
          </a:p>
        </p:txBody>
      </p:sp>
      <p:sp>
        <p:nvSpPr>
          <p:cNvPr id="6" name="Rektangel 5">
            <a:extLst xmlns:a="http://schemas.openxmlformats.org/drawingml/2006/main">
              <a:ext uri="{FF2B5EF4-FFF2-40B4-BE49-F238E27FC236}">
                <a16:creationId xmlns:a16="http://schemas.microsoft.com/office/drawing/2014/main" id="{F44A7496-22FF-4D59-8568-3C3E0F32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PRIS OG HANDELSSIGNALER</a:t>
            </a:r>
          </a:p>
        </p:txBody>
      </p:sp>
      <p:pic>
        <p:nvPicPr>
          <p:cNvPr id="42" name="Billed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b71bb49364011"/>
          <a:stretch xmlns:a="http://schemas.openxmlformats.org/drawingml/2006/main"/>
        </p:blipFill>
        <p:spPr>
          <a:xfrm xmlns:a="http://schemas.openxmlformats.org/drawingml/2006/main">
            <a:off x="885825" y="1295400"/>
            <a:ext cx="4476750" cy="2238375"/>
          </a:xfrm>
          <a:prstGeom xmlns:a="http://schemas.openxmlformats.org/drawingml/2006/main" prst="rect">
            <a:avLst/>
          </a:prstGeom>
        </p:spPr>
      </p:pic>
      <p:sp>
        <p:nvSpPr>
          <p:cNvPr id="8" name="Rektangel 7">
            <a:extLst xmlns:a="http://schemas.openxmlformats.org/drawingml/2006/main">
              <a:ext uri="{FF2B5EF4-FFF2-40B4-BE49-F238E27FC236}">
                <a16:creationId xmlns:a16="http://schemas.microsoft.com/office/drawing/2014/main" id="{E9D16291-9DB3-41A2-BA2A-1B8C85BA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KAPITALKURVE</a:t>
            </a:r>
          </a:p>
        </p:txBody>
      </p:sp>
      <p:pic>
        <p:nvPicPr>
          <p:cNvPr id="44" name="Billed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aebb09c374cff"/>
          <a:stretch xmlns:a="http://schemas.openxmlformats.org/drawingml/2006/main"/>
        </p:blipFill>
        <p:spPr>
          <a:xfrm xmlns:a="http://schemas.openxmlformats.org/drawingml/2006/main">
            <a:off x="885825" y="3981450"/>
            <a:ext cx="4476750" cy="2238375"/>
          </a:xfrm>
          <a:prstGeom xmlns:a="http://schemas.openxmlformats.org/drawingml/2006/main" prst="rect">
            <a:avLst/>
          </a:prstGeom>
        </p:spPr>
      </p:pic>
      <p:sp>
        <p:nvSpPr>
          <p:cNvPr id="10" name="Rektangel 9">
            <a:extLst xmlns:a="http://schemas.openxmlformats.org/drawingml/2006/main">
              <a:ext uri="{FF2B5EF4-FFF2-40B4-BE49-F238E27FC236}">
                <a16:creationId xmlns:a16="http://schemas.microsoft.com/office/drawing/2014/main" id="{639E41ED-C741-4319-9AC8-E2E59B6B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9540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ktangel 10">
            <a:extLst xmlns:a="http://schemas.openxmlformats.org/drawingml/2006/main">
              <a:ext uri="{FF2B5EF4-FFF2-40B4-BE49-F238E27FC236}">
                <a16:creationId xmlns:a16="http://schemas.microsoft.com/office/drawing/2014/main" id="{FA2813B8-4C90-42EC-93E8-958E37FE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668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$64.4k</a:t>
            </a:r>
          </a:p>
        </p:txBody>
      </p:sp>
      <p:sp>
        <p:nvSpPr>
          <p:cNvPr id="12" name="Rektangel 11">
            <a:extLst xmlns:a="http://schemas.openxmlformats.org/drawingml/2006/main">
              <a:ext uri="{FF2B5EF4-FFF2-40B4-BE49-F238E27FC236}">
                <a16:creationId xmlns:a16="http://schemas.microsoft.com/office/drawing/2014/main" id="{4D5DF8B3-53C8-45FB-997E-1735F69B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907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Slutkapital</a:t>
            </a:r>
          </a:p>
        </p:txBody>
      </p:sp>
      <p:sp>
        <p:nvSpPr>
          <p:cNvPr id="13" name="Rektangel 12">
            <a:extLst xmlns:a="http://schemas.openxmlformats.org/drawingml/2006/main">
              <a:ext uri="{FF2B5EF4-FFF2-40B4-BE49-F238E27FC236}">
                <a16:creationId xmlns:a16="http://schemas.microsoft.com/office/drawing/2014/main" id="{95B2CF01-57FA-42B4-ACB7-F9FD1DEA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9540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ktangel 13">
            <a:extLst xmlns:a="http://schemas.openxmlformats.org/drawingml/2006/main">
              <a:ext uri="{FF2B5EF4-FFF2-40B4-BE49-F238E27FC236}">
                <a16:creationId xmlns:a16="http://schemas.microsoft.com/office/drawing/2014/main" id="{44ED6DB0-514C-47EB-8CC0-EAD7C78F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668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543.6%</a:t>
            </a:r>
          </a:p>
        </p:txBody>
      </p:sp>
      <p:sp>
        <p:nvSpPr>
          <p:cNvPr id="15" name="Rektangel 14">
            <a:extLst xmlns:a="http://schemas.openxmlformats.org/drawingml/2006/main">
              <a:ext uri="{FF2B5EF4-FFF2-40B4-BE49-F238E27FC236}">
                <a16:creationId xmlns:a16="http://schemas.microsoft.com/office/drawing/2014/main" id="{4FB37F71-573D-4E51-8A6B-01E6961D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907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Samlet afkast</a:t>
            </a:r>
          </a:p>
        </p:txBody>
      </p:sp>
      <p:sp>
        <p:nvSpPr>
          <p:cNvPr id="16" name="Rektangel 15">
            <a:extLst xmlns:a="http://schemas.openxmlformats.org/drawingml/2006/main">
              <a:ext uri="{FF2B5EF4-FFF2-40B4-BE49-F238E27FC236}">
                <a16:creationId xmlns:a16="http://schemas.microsoft.com/office/drawing/2014/main" id="{DF40830E-668C-4BF4-A12E-6E53D669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ktangel 16">
            <a:extLst xmlns:a="http://schemas.openxmlformats.org/drawingml/2006/main">
              <a:ext uri="{FF2B5EF4-FFF2-40B4-BE49-F238E27FC236}">
                <a16:creationId xmlns:a16="http://schemas.microsoft.com/office/drawing/2014/main" id="{CF33CBA8-1546-452F-8D29-78EA16B9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E57C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E57C2"/>
                </a:solidFill>
                <a:latin typeface="Aptos"/>
                <a:ea typeface="Aptos"/>
                <a:cs typeface="Aptos"/>
              </a:rPr>
              <a:t>1,202.7%</a:t>
            </a:r>
          </a:p>
        </p:txBody>
      </p:sp>
      <p:sp>
        <p:nvSpPr>
          <p:cNvPr id="18" name="Rektangel 17">
            <a:extLst xmlns:a="http://schemas.openxmlformats.org/drawingml/2006/main">
              <a:ext uri="{FF2B5EF4-FFF2-40B4-BE49-F238E27FC236}">
                <a16:creationId xmlns:a16="http://schemas.microsoft.com/office/drawing/2014/main" id="{12DA2944-D8B8-45BC-B36B-26842440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Køb og hold</a:t>
            </a:r>
          </a:p>
        </p:txBody>
      </p:sp>
      <p:sp>
        <p:nvSpPr>
          <p:cNvPr id="19" name="Rektangel 18">
            <a:extLst xmlns:a="http://schemas.openxmlformats.org/drawingml/2006/main">
              <a:ext uri="{FF2B5EF4-FFF2-40B4-BE49-F238E27FC236}">
                <a16:creationId xmlns:a16="http://schemas.microsoft.com/office/drawing/2014/main" id="{C3085DE5-6181-4A32-B131-ACD6B304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ktangel 19">
            <a:extLst xmlns:a="http://schemas.openxmlformats.org/drawingml/2006/main">
              <a:ext uri="{FF2B5EF4-FFF2-40B4-BE49-F238E27FC236}">
                <a16:creationId xmlns:a16="http://schemas.microsoft.com/office/drawing/2014/main" id="{324D226A-F348-47AF-9267-E4F3DA70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146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64F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64F4F"/>
                </a:solidFill>
                <a:latin typeface="Aptos"/>
                <a:ea typeface="Aptos"/>
                <a:cs typeface="Aptos"/>
              </a:rPr>
              <a:t>-35.3%</a:t>
            </a:r>
          </a:p>
        </p:txBody>
      </p:sp>
      <p:sp>
        <p:nvSpPr>
          <p:cNvPr id="21" name="Rektangel 20">
            <a:extLst xmlns:a="http://schemas.openxmlformats.org/drawingml/2006/main">
              <a:ext uri="{FF2B5EF4-FFF2-40B4-BE49-F238E27FC236}">
                <a16:creationId xmlns:a16="http://schemas.microsoft.com/office/drawing/2014/main" id="{150E7052-B61F-471F-A727-0B3582CA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Maks. drawdown</a:t>
            </a:r>
          </a:p>
        </p:txBody>
      </p:sp>
      <p:sp>
        <p:nvSpPr>
          <p:cNvPr id="22" name="Rektangel 21">
            <a:extLst xmlns:a="http://schemas.openxmlformats.org/drawingml/2006/main">
              <a:ext uri="{FF2B5EF4-FFF2-40B4-BE49-F238E27FC236}">
                <a16:creationId xmlns:a16="http://schemas.microsoft.com/office/drawing/2014/main" id="{170F2F41-9D8A-4E43-9A83-B01BC52F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ktangel 22">
            <a:extLst xmlns:a="http://schemas.openxmlformats.org/drawingml/2006/main">
              <a:ext uri="{FF2B5EF4-FFF2-40B4-BE49-F238E27FC236}">
                <a16:creationId xmlns:a16="http://schemas.microsoft.com/office/drawing/2014/main" id="{04D7C81B-9D47-4B97-BDD3-65D2018A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D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24" name="Rektangel 23">
            <a:extLst xmlns:a="http://schemas.openxmlformats.org/drawingml/2006/main">
              <a:ext uri="{FF2B5EF4-FFF2-40B4-BE49-F238E27FC236}">
                <a16:creationId xmlns:a16="http://schemas.microsoft.com/office/drawing/2014/main" id="{AA00871B-E974-4BB5-B4A9-0907A636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862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Handler</a:t>
            </a:r>
          </a:p>
        </p:txBody>
      </p:sp>
      <p:sp>
        <p:nvSpPr>
          <p:cNvPr id="25" name="Rektangel 24">
            <a:extLst xmlns:a="http://schemas.openxmlformats.org/drawingml/2006/main">
              <a:ext uri="{FF2B5EF4-FFF2-40B4-BE49-F238E27FC236}">
                <a16:creationId xmlns:a16="http://schemas.microsoft.com/office/drawing/2014/main" id="{6D7CB4CD-AAA3-432A-AB5D-F0CEB418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ktangel 25">
            <a:extLst xmlns:a="http://schemas.openxmlformats.org/drawingml/2006/main">
              <a:ext uri="{FF2B5EF4-FFF2-40B4-BE49-F238E27FC236}">
                <a16:creationId xmlns:a16="http://schemas.microsoft.com/office/drawing/2014/main" id="{21EAC734-E773-4B0D-A36A-1578451D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623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D"/>
                </a:solidFill>
                <a:latin typeface="Aptos"/>
                <a:ea typeface="Aptos"/>
                <a:cs typeface="Aptos"/>
              </a:rPr>
              <a:t>44.8%</a:t>
            </a:r>
          </a:p>
        </p:txBody>
      </p:sp>
      <p:sp>
        <p:nvSpPr>
          <p:cNvPr id="27" name="Rektangel 26">
            <a:extLst xmlns:a="http://schemas.openxmlformats.org/drawingml/2006/main">
              <a:ext uri="{FF2B5EF4-FFF2-40B4-BE49-F238E27FC236}">
                <a16:creationId xmlns:a16="http://schemas.microsoft.com/office/drawing/2014/main" id="{F4E7C457-DF53-4522-8050-E8982B6E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862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Gevinstrate</a:t>
            </a:r>
          </a:p>
        </p:txBody>
      </p:sp>
      <p:sp>
        <p:nvSpPr>
          <p:cNvPr id="28" name="Rektangel 27">
            <a:extLst xmlns:a="http://schemas.openxmlformats.org/drawingml/2006/main">
              <a:ext uri="{FF2B5EF4-FFF2-40B4-BE49-F238E27FC236}">
                <a16:creationId xmlns:a16="http://schemas.microsoft.com/office/drawing/2014/main" id="{D7BF0EDD-6390-4347-91A1-EE52CAC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ktangel 28">
            <a:extLst xmlns:a="http://schemas.openxmlformats.org/drawingml/2006/main">
              <a:ext uri="{FF2B5EF4-FFF2-40B4-BE49-F238E27FC236}">
                <a16:creationId xmlns:a16="http://schemas.microsoft.com/office/drawing/2014/main" id="{BE1D3E11-49C6-4A2C-A390-1680F7F7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01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E57C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E57C2"/>
                </a:solidFill>
                <a:latin typeface="Aptos"/>
                <a:ea typeface="Aptos"/>
                <a:cs typeface="Aptos"/>
              </a:rPr>
              <a:t>6.10</a:t>
            </a:r>
          </a:p>
        </p:txBody>
      </p:sp>
      <p:sp>
        <p:nvSpPr>
          <p:cNvPr id="30" name="Rektangel 29">
            <a:extLst xmlns:a="http://schemas.openxmlformats.org/drawingml/2006/main">
              <a:ext uri="{FF2B5EF4-FFF2-40B4-BE49-F238E27FC236}">
                <a16:creationId xmlns:a16="http://schemas.microsoft.com/office/drawing/2014/main" id="{1520C841-7689-4081-95F2-E32CD5DC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339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Profitfaktor</a:t>
            </a:r>
          </a:p>
        </p:txBody>
      </p:sp>
      <p:sp>
        <p:nvSpPr>
          <p:cNvPr id="31" name="Rektangel 30">
            <a:extLst xmlns:a="http://schemas.openxmlformats.org/drawingml/2006/main">
              <a:ext uri="{FF2B5EF4-FFF2-40B4-BE49-F238E27FC236}">
                <a16:creationId xmlns:a16="http://schemas.microsoft.com/office/drawing/2014/main" id="{8E6180A1-74BF-4642-B125-C9B2954C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Rektangel 31">
            <a:extLst xmlns:a="http://schemas.openxmlformats.org/drawingml/2006/main">
              <a:ext uri="{FF2B5EF4-FFF2-40B4-BE49-F238E27FC236}">
                <a16:creationId xmlns:a16="http://schemas.microsoft.com/office/drawing/2014/main" id="{E641B8B2-9C63-439E-ADA7-F822E3CF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101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D"/>
                </a:solidFill>
                <a:latin typeface="Aptos"/>
                <a:ea typeface="Aptos"/>
                <a:cs typeface="Aptos"/>
              </a:rPr>
              <a:t>71.7%</a:t>
            </a:r>
          </a:p>
        </p:txBody>
      </p:sp>
      <p:sp>
        <p:nvSpPr>
          <p:cNvPr id="33" name="Rektangel 32">
            <a:extLst xmlns:a="http://schemas.openxmlformats.org/drawingml/2006/main">
              <a:ext uri="{FF2B5EF4-FFF2-40B4-BE49-F238E27FC236}">
                <a16:creationId xmlns:a16="http://schemas.microsoft.com/office/drawing/2014/main" id="{71CFF76A-FB20-4954-8F75-91146993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339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Eksponeringstid</a:t>
            </a:r>
          </a:p>
        </p:txBody>
      </p:sp>
      <p:sp>
        <p:nvSpPr>
          <p:cNvPr id="34" name="Rektangel 33">
            <a:extLst xmlns:a="http://schemas.openxmlformats.org/drawingml/2006/main">
              <a:ext uri="{FF2B5EF4-FFF2-40B4-BE49-F238E27FC236}">
                <a16:creationId xmlns:a16="http://schemas.microsoft.com/office/drawing/2014/main" id="{60B4452C-8B2B-43E3-AFA4-73ECF00E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62600"/>
            <a:ext cx="485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Køb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og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hold 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viser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AAPL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afkastet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, 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hvis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aktien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blev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holdt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hele 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perioden</a:t>
            </a: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38752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Rektangel 83">
            <a:extLst xmlns:a="http://schemas.openxmlformats.org/drawingml/2006/main">
              <a:ext uri="{FF2B5EF4-FFF2-40B4-BE49-F238E27FC236}">
                <a16:creationId xmlns:a16="http://schemas.microsoft.com/office/drawing/2014/main" id="{D78F1432-6A77-416C-B71B-038C9D29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ktangel 1">
            <a:extLst xmlns:a="http://schemas.openxmlformats.org/drawingml/2006/main">
              <a:ext uri="{FF2B5EF4-FFF2-40B4-BE49-F238E27FC236}">
                <a16:creationId xmlns:a16="http://schemas.microsoft.com/office/drawing/2014/main" id="{B2B48D07-FA48-4B7B-98B5-4B3AD718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ktangel 2">
            <a:extLst xmlns:a="http://schemas.openxmlformats.org/drawingml/2006/main">
              <a:ext uri="{FF2B5EF4-FFF2-40B4-BE49-F238E27FC236}">
                <a16:creationId xmlns:a16="http://schemas.microsoft.com/office/drawing/2014/main" id="{8AA05D49-D110-469E-8C40-E64B58EC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7C0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C0D4"/>
                </a:solidFill>
                <a:latin typeface="Aptos"/>
                <a:ea typeface="Aptos"/>
                <a:cs typeface="Aptos"/>
              </a:rPr>
              <a:t>FORWARD TEST</a:t>
            </a:r>
          </a:p>
        </p:txBody>
      </p:sp>
      <p:sp>
        <p:nvSpPr>
          <p:cNvPr id="4" name="Rektangel 3">
            <a:extLst xmlns:a="http://schemas.openxmlformats.org/drawingml/2006/main">
              <a:ext uri="{FF2B5EF4-FFF2-40B4-BE49-F238E27FC236}">
                <a16:creationId xmlns:a16="http://schemas.microsoft.com/office/drawing/2014/main" id="{E4511824-DD0F-4E74-B450-4F3BBFE2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Rolling out-of-sample periods stayed positive in 8 of 9 years</a:t>
            </a:r>
          </a:p>
        </p:txBody>
      </p:sp>
      <p:sp>
        <p:nvSpPr>
          <p:cNvPr id="6" name="Rektangel 5">
            <a:extLst xmlns:a="http://schemas.openxmlformats.org/drawingml/2006/main">
              <a:ext uri="{FF2B5EF4-FFF2-40B4-BE49-F238E27FC236}">
                <a16:creationId xmlns:a16="http://schemas.microsoft.com/office/drawing/2014/main" id="{40644636-79AF-44DD-B50C-78B34154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WALK FORWARD EQUITY</a:t>
            </a:r>
          </a:p>
        </p:txBody>
      </p:sp>
      <p:pic>
        <p:nvPicPr>
          <p:cNvPr id="89" name="Billed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7db14ae364871"/>
          <a:stretch xmlns:a="http://schemas.openxmlformats.org/drawingml/2006/main"/>
        </p:blipFill>
        <p:spPr>
          <a:xfrm xmlns:a="http://schemas.openxmlformats.org/drawingml/2006/main">
            <a:off x="457200" y="1331119"/>
            <a:ext cx="7096125" cy="3548063"/>
          </a:xfrm>
          <a:prstGeom xmlns:a="http://schemas.openxmlformats.org/drawingml/2006/main" prst="rect">
            <a:avLst/>
          </a:prstGeom>
        </p:spPr>
      </p:pic>
      <p:sp>
        <p:nvSpPr>
          <p:cNvPr id="8" name="Rektangel 7">
            <a:extLst xmlns:a="http://schemas.openxmlformats.org/drawingml/2006/main">
              <a:ext uri="{FF2B5EF4-FFF2-40B4-BE49-F238E27FC236}">
                <a16:creationId xmlns:a16="http://schemas.microsoft.com/office/drawing/2014/main" id="{D2C26B67-1DBA-4257-83DC-F2123C3D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954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ktangel 8">
            <a:extLst xmlns:a="http://schemas.openxmlformats.org/drawingml/2006/main">
              <a:ext uri="{FF2B5EF4-FFF2-40B4-BE49-F238E27FC236}">
                <a16:creationId xmlns:a16="http://schemas.microsoft.com/office/drawing/2014/main" id="{7753D00B-2F6E-42F0-BD95-51D1F4F3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378.6%</a:t>
            </a:r>
          </a:p>
        </p:txBody>
      </p:sp>
      <p:sp>
        <p:nvSpPr>
          <p:cNvPr id="10" name="Rektangel 9">
            <a:extLst xmlns:a="http://schemas.openxmlformats.org/drawingml/2006/main">
              <a:ext uri="{FF2B5EF4-FFF2-40B4-BE49-F238E27FC236}">
                <a16:creationId xmlns:a16="http://schemas.microsoft.com/office/drawing/2014/main" id="{B5675E73-B2D2-42BC-9DD8-92692964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Compounded OOS return</a:t>
            </a:r>
          </a:p>
        </p:txBody>
      </p:sp>
      <p:sp>
        <p:nvSpPr>
          <p:cNvPr id="11" name="Rektangel 10">
            <a:extLst xmlns:a="http://schemas.openxmlformats.org/drawingml/2006/main">
              <a:ext uri="{FF2B5EF4-FFF2-40B4-BE49-F238E27FC236}">
                <a16:creationId xmlns:a16="http://schemas.microsoft.com/office/drawing/2014/main" id="{9D072DAC-80C6-4A89-9C29-7870FDDA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2954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ktangel 11">
            <a:extLst xmlns:a="http://schemas.openxmlformats.org/drawingml/2006/main">
              <a:ext uri="{FF2B5EF4-FFF2-40B4-BE49-F238E27FC236}">
                <a16:creationId xmlns:a16="http://schemas.microsoft.com/office/drawing/2014/main" id="{38CC432C-7782-4B92-9333-27177E12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4668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21.5%</a:t>
            </a:r>
          </a:p>
        </p:txBody>
      </p:sp>
      <p:sp>
        <p:nvSpPr>
          <p:cNvPr id="13" name="Rektangel 12">
            <a:extLst xmlns:a="http://schemas.openxmlformats.org/drawingml/2006/main">
              <a:ext uri="{FF2B5EF4-FFF2-40B4-BE49-F238E27FC236}">
                <a16:creationId xmlns:a16="http://schemas.microsoft.com/office/drawing/2014/main" id="{F27C70FF-6EE6-49FA-A62E-7844C261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7907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Average OOS period</a:t>
            </a:r>
          </a:p>
        </p:txBody>
      </p:sp>
      <p:sp>
        <p:nvSpPr>
          <p:cNvPr id="14" name="Rektangel 13">
            <a:extLst xmlns:a="http://schemas.openxmlformats.org/drawingml/2006/main">
              <a:ext uri="{FF2B5EF4-FFF2-40B4-BE49-F238E27FC236}">
                <a16:creationId xmlns:a16="http://schemas.microsoft.com/office/drawing/2014/main" id="{D850853B-CD26-4B54-BF9F-6C305EFC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ktangel 14">
            <a:extLst xmlns:a="http://schemas.openxmlformats.org/drawingml/2006/main">
              <a:ext uri="{FF2B5EF4-FFF2-40B4-BE49-F238E27FC236}">
                <a16:creationId xmlns:a16="http://schemas.microsoft.com/office/drawing/2014/main" id="{282F89C1-97F4-4C8E-97D4-71B04638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1460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E57C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E57C2"/>
                </a:solidFill>
                <a:latin typeface="Aptos"/>
                <a:ea typeface="Aptos"/>
                <a:cs typeface="Aptos"/>
              </a:rPr>
              <a:t>8 / 9</a:t>
            </a:r>
          </a:p>
        </p:txBody>
      </p:sp>
      <p:sp>
        <p:nvSpPr>
          <p:cNvPr id="16" name="Rektangel 15">
            <a:extLst xmlns:a="http://schemas.openxmlformats.org/drawingml/2006/main">
              <a:ext uri="{FF2B5EF4-FFF2-40B4-BE49-F238E27FC236}">
                <a16:creationId xmlns:a16="http://schemas.microsoft.com/office/drawing/2014/main" id="{B612DDF8-6496-4821-A1D8-3AC062D4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384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Positive periods</a:t>
            </a:r>
          </a:p>
        </p:txBody>
      </p:sp>
      <p:sp>
        <p:nvSpPr>
          <p:cNvPr id="17" name="Rektangel 16">
            <a:extLst xmlns:a="http://schemas.openxmlformats.org/drawingml/2006/main">
              <a:ext uri="{FF2B5EF4-FFF2-40B4-BE49-F238E27FC236}">
                <a16:creationId xmlns:a16="http://schemas.microsoft.com/office/drawing/2014/main" id="{600F2F70-A60D-46FB-AB8D-200D7EDF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431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ktangel 17">
            <a:extLst xmlns:a="http://schemas.openxmlformats.org/drawingml/2006/main">
              <a:ext uri="{FF2B5EF4-FFF2-40B4-BE49-F238E27FC236}">
                <a16:creationId xmlns:a16="http://schemas.microsoft.com/office/drawing/2014/main" id="{9F97C40D-DD8F-4C38-989C-3DE2903C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51460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64F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64F4F"/>
                </a:solidFill>
                <a:latin typeface="Aptos"/>
                <a:ea typeface="Aptos"/>
                <a:cs typeface="Aptos"/>
              </a:rPr>
              <a:t>-27.5%</a:t>
            </a:r>
          </a:p>
        </p:txBody>
      </p:sp>
      <p:sp>
        <p:nvSpPr>
          <p:cNvPr id="19" name="Rektangel 18">
            <a:extLst xmlns:a="http://schemas.openxmlformats.org/drawingml/2006/main">
              <a:ext uri="{FF2B5EF4-FFF2-40B4-BE49-F238E27FC236}">
                <a16:creationId xmlns:a16="http://schemas.microsoft.com/office/drawing/2014/main" id="{9C670F3F-D678-48B3-8E57-1F9844EF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8384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Worst period</a:t>
            </a:r>
          </a:p>
        </p:txBody>
      </p:sp>
      <p:sp>
        <p:nvSpPr>
          <p:cNvPr id="20" name="Rektangel 19">
            <a:extLst xmlns:a="http://schemas.openxmlformats.org/drawingml/2006/main">
              <a:ext uri="{FF2B5EF4-FFF2-40B4-BE49-F238E27FC236}">
                <a16:creationId xmlns:a16="http://schemas.microsoft.com/office/drawing/2014/main" id="{978FDF8E-5846-42E9-997A-6671C8A8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PERIOD RESULTS</a:t>
            </a:r>
          </a:p>
        </p:txBody>
      </p:sp>
      <p:sp>
        <p:nvSpPr>
          <p:cNvPr id="21" name="Rektangel 20">
            <a:extLst xmlns:a="http://schemas.openxmlformats.org/drawingml/2006/main">
              <a:ext uri="{FF2B5EF4-FFF2-40B4-BE49-F238E27FC236}">
                <a16:creationId xmlns:a16="http://schemas.microsoft.com/office/drawing/2014/main" id="{D5F3D002-03B8-45C5-9123-C1909603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333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ktangel 21">
            <a:extLst xmlns:a="http://schemas.openxmlformats.org/drawingml/2006/main">
              <a:ext uri="{FF2B5EF4-FFF2-40B4-BE49-F238E27FC236}">
                <a16:creationId xmlns:a16="http://schemas.microsoft.com/office/drawing/2014/main" id="{0E9F516B-7947-4F03-9FAB-47DD00FB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100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ktangel 22">
            <a:extLst xmlns:a="http://schemas.openxmlformats.org/drawingml/2006/main">
              <a:ext uri="{FF2B5EF4-FFF2-40B4-BE49-F238E27FC236}">
                <a16:creationId xmlns:a16="http://schemas.microsoft.com/office/drawing/2014/main" id="{B8A566B4-5D98-4DE1-AA78-CA72A469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4810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</a:t>
            </a:r>
          </a:p>
        </p:txBody>
      </p:sp>
      <p:sp>
        <p:nvSpPr>
          <p:cNvPr id="24" name="Rektangel 23">
            <a:extLst xmlns:a="http://schemas.openxmlformats.org/drawingml/2006/main">
              <a:ext uri="{FF2B5EF4-FFF2-40B4-BE49-F238E27FC236}">
                <a16:creationId xmlns:a16="http://schemas.microsoft.com/office/drawing/2014/main" id="{F7E019FD-3EDC-430B-AEFF-C828B4A2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100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ktangel 24">
            <a:extLst xmlns:a="http://schemas.openxmlformats.org/drawingml/2006/main">
              <a:ext uri="{FF2B5EF4-FFF2-40B4-BE49-F238E27FC236}">
                <a16:creationId xmlns:a16="http://schemas.microsoft.com/office/drawing/2014/main" id="{445616FC-5A30-4452-B406-1232C6FC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84810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26" name="Rektangel 25">
            <a:extLst xmlns:a="http://schemas.openxmlformats.org/drawingml/2006/main">
              <a:ext uri="{FF2B5EF4-FFF2-40B4-BE49-F238E27FC236}">
                <a16:creationId xmlns:a16="http://schemas.microsoft.com/office/drawing/2014/main" id="{6261DFA0-532F-45CE-BF76-6C244E1A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ktangel 26">
            <a:extLst xmlns:a="http://schemas.openxmlformats.org/drawingml/2006/main">
              <a:ext uri="{FF2B5EF4-FFF2-40B4-BE49-F238E27FC236}">
                <a16:creationId xmlns:a16="http://schemas.microsoft.com/office/drawing/2014/main" id="{AC48EE5B-F754-4A65-A00A-AFCC8F64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481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Trades</a:t>
            </a:r>
          </a:p>
        </p:txBody>
      </p:sp>
      <p:sp>
        <p:nvSpPr>
          <p:cNvPr id="28" name="Rektangel 27">
            <a:extLst xmlns:a="http://schemas.openxmlformats.org/drawingml/2006/main">
              <a:ext uri="{FF2B5EF4-FFF2-40B4-BE49-F238E27FC236}">
                <a16:creationId xmlns:a16="http://schemas.microsoft.com/office/drawing/2014/main" id="{6E96DD7D-68D8-4E6E-B322-B33FD26C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290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ktangel 28">
            <a:extLst xmlns:a="http://schemas.openxmlformats.org/drawingml/2006/main">
              <a:ext uri="{FF2B5EF4-FFF2-40B4-BE49-F238E27FC236}">
                <a16:creationId xmlns:a16="http://schemas.microsoft.com/office/drawing/2014/main" id="{33EA49D6-C656-413E-A47B-55BC00FE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06717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2017</a:t>
            </a:r>
          </a:p>
        </p:txBody>
      </p:sp>
      <p:sp>
        <p:nvSpPr>
          <p:cNvPr id="30" name="Rektangel 29">
            <a:extLst xmlns:a="http://schemas.openxmlformats.org/drawingml/2006/main">
              <a:ext uri="{FF2B5EF4-FFF2-40B4-BE49-F238E27FC236}">
                <a16:creationId xmlns:a16="http://schemas.microsoft.com/office/drawing/2014/main" id="{50FA485D-8774-43FF-B108-0FBFACB1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290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ktangel 30">
            <a:extLst xmlns:a="http://schemas.openxmlformats.org/drawingml/2006/main">
              <a:ext uri="{FF2B5EF4-FFF2-40B4-BE49-F238E27FC236}">
                <a16:creationId xmlns:a16="http://schemas.microsoft.com/office/drawing/2014/main" id="{BEF83930-DD78-4F7C-811F-9959D6CF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067175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45.6%</a:t>
            </a:r>
          </a:p>
        </p:txBody>
      </p:sp>
      <p:sp>
        <p:nvSpPr>
          <p:cNvPr id="32" name="Rektangel 31">
            <a:extLst xmlns:a="http://schemas.openxmlformats.org/drawingml/2006/main">
              <a:ext uri="{FF2B5EF4-FFF2-40B4-BE49-F238E27FC236}">
                <a16:creationId xmlns:a16="http://schemas.microsoft.com/office/drawing/2014/main" id="{492CD9D0-D90E-4CD4-81CF-B24AD884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290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ktangel 32">
            <a:extLst xmlns:a="http://schemas.openxmlformats.org/drawingml/2006/main">
              <a:ext uri="{FF2B5EF4-FFF2-40B4-BE49-F238E27FC236}">
                <a16:creationId xmlns:a16="http://schemas.microsoft.com/office/drawing/2014/main" id="{9B08038F-CC26-45E7-8EEC-3BADFE04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67175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4" name="Rektangel 33">
            <a:extLst xmlns:a="http://schemas.openxmlformats.org/drawingml/2006/main">
              <a:ext uri="{FF2B5EF4-FFF2-40B4-BE49-F238E27FC236}">
                <a16:creationId xmlns:a16="http://schemas.microsoft.com/office/drawing/2014/main" id="{73EA9956-EEC3-4BC1-9E93-DBBB5E29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48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ektangel 34">
            <a:extLst xmlns:a="http://schemas.openxmlformats.org/drawingml/2006/main">
              <a:ext uri="{FF2B5EF4-FFF2-40B4-BE49-F238E27FC236}">
                <a16:creationId xmlns:a16="http://schemas.microsoft.com/office/drawing/2014/main" id="{980482F2-9368-40F0-9CA8-E2DBC474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8625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2018</a:t>
            </a:r>
          </a:p>
        </p:txBody>
      </p:sp>
      <p:sp>
        <p:nvSpPr>
          <p:cNvPr id="36" name="Rektangel 35">
            <a:extLst xmlns:a="http://schemas.openxmlformats.org/drawingml/2006/main">
              <a:ext uri="{FF2B5EF4-FFF2-40B4-BE49-F238E27FC236}">
                <a16:creationId xmlns:a16="http://schemas.microsoft.com/office/drawing/2014/main" id="{826995E4-4BD8-4999-A496-B3A2BF74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481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ektangel 36">
            <a:extLst xmlns:a="http://schemas.openxmlformats.org/drawingml/2006/main">
              <a:ext uri="{FF2B5EF4-FFF2-40B4-BE49-F238E27FC236}">
                <a16:creationId xmlns:a16="http://schemas.microsoft.com/office/drawing/2014/main" id="{F2522527-B26F-4C9D-94E8-7A2D253C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28625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2.0%</a:t>
            </a:r>
          </a:p>
        </p:txBody>
      </p:sp>
      <p:sp>
        <p:nvSpPr>
          <p:cNvPr id="38" name="Rektangel 37">
            <a:extLst xmlns:a="http://schemas.openxmlformats.org/drawingml/2006/main">
              <a:ext uri="{FF2B5EF4-FFF2-40B4-BE49-F238E27FC236}">
                <a16:creationId xmlns:a16="http://schemas.microsoft.com/office/drawing/2014/main" id="{DC99CE1A-C301-45EA-9376-9675C00A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481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Rektangel 38">
            <a:extLst xmlns:a="http://schemas.openxmlformats.org/drawingml/2006/main">
              <a:ext uri="{FF2B5EF4-FFF2-40B4-BE49-F238E27FC236}">
                <a16:creationId xmlns:a16="http://schemas.microsoft.com/office/drawing/2014/main" id="{12594B60-DA4C-4957-BA5A-C851E619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2862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0" name="Rektangel 39">
            <a:extLst xmlns:a="http://schemas.openxmlformats.org/drawingml/2006/main">
              <a:ext uri="{FF2B5EF4-FFF2-40B4-BE49-F238E27FC236}">
                <a16:creationId xmlns:a16="http://schemas.microsoft.com/office/drawing/2014/main" id="{E82111C9-EC88-4B10-8976-F7F9F20B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672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Rektangel 40">
            <a:extLst xmlns:a="http://schemas.openxmlformats.org/drawingml/2006/main">
              <a:ext uri="{FF2B5EF4-FFF2-40B4-BE49-F238E27FC236}">
                <a16:creationId xmlns:a16="http://schemas.microsoft.com/office/drawing/2014/main" id="{E8AF519F-FF9B-414B-822D-79798ADE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0532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2019</a:t>
            </a:r>
          </a:p>
        </p:txBody>
      </p:sp>
      <p:sp>
        <p:nvSpPr>
          <p:cNvPr id="42" name="Rektangel 41">
            <a:extLst xmlns:a="http://schemas.openxmlformats.org/drawingml/2006/main">
              <a:ext uri="{FF2B5EF4-FFF2-40B4-BE49-F238E27FC236}">
                <a16:creationId xmlns:a16="http://schemas.microsoft.com/office/drawing/2014/main" id="{58F760AE-4FC0-4AFA-ACE7-F1A458C1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672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Rektangel 42">
            <a:extLst xmlns:a="http://schemas.openxmlformats.org/drawingml/2006/main">
              <a:ext uri="{FF2B5EF4-FFF2-40B4-BE49-F238E27FC236}">
                <a16:creationId xmlns:a16="http://schemas.microsoft.com/office/drawing/2014/main" id="{D16BD0C2-FF82-46D0-BAB5-6FFCE285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05325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40.7%</a:t>
            </a:r>
          </a:p>
        </p:txBody>
      </p:sp>
      <p:sp>
        <p:nvSpPr>
          <p:cNvPr id="44" name="Rektangel 43">
            <a:extLst xmlns:a="http://schemas.openxmlformats.org/drawingml/2006/main">
              <a:ext uri="{FF2B5EF4-FFF2-40B4-BE49-F238E27FC236}">
                <a16:creationId xmlns:a16="http://schemas.microsoft.com/office/drawing/2014/main" id="{104866FC-A3AA-42D4-8BDC-CF7D6374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672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Rektangel 44">
            <a:extLst xmlns:a="http://schemas.openxmlformats.org/drawingml/2006/main">
              <a:ext uri="{FF2B5EF4-FFF2-40B4-BE49-F238E27FC236}">
                <a16:creationId xmlns:a16="http://schemas.microsoft.com/office/drawing/2014/main" id="{E77EB6FB-583C-431F-9C60-9D9095C2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05325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6" name="Rektangel 45">
            <a:extLst xmlns:a="http://schemas.openxmlformats.org/drawingml/2006/main">
              <a:ext uri="{FF2B5EF4-FFF2-40B4-BE49-F238E27FC236}">
                <a16:creationId xmlns:a16="http://schemas.microsoft.com/office/drawing/2014/main" id="{18A92830-E04C-4DAB-B610-87234B6B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863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Rektangel 46">
            <a:extLst xmlns:a="http://schemas.openxmlformats.org/drawingml/2006/main">
              <a:ext uri="{FF2B5EF4-FFF2-40B4-BE49-F238E27FC236}">
                <a16:creationId xmlns:a16="http://schemas.microsoft.com/office/drawing/2014/main" id="{C60EE3B5-F868-4042-B111-7C4967A5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2440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2020</a:t>
            </a:r>
          </a:p>
        </p:txBody>
      </p:sp>
      <p:sp>
        <p:nvSpPr>
          <p:cNvPr id="48" name="Rektangel 47">
            <a:extLst xmlns:a="http://schemas.openxmlformats.org/drawingml/2006/main">
              <a:ext uri="{FF2B5EF4-FFF2-40B4-BE49-F238E27FC236}">
                <a16:creationId xmlns:a16="http://schemas.microsoft.com/office/drawing/2014/main" id="{6664B11E-B393-4860-905C-E90042F2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863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Rektangel 48">
            <a:extLst xmlns:a="http://schemas.openxmlformats.org/drawingml/2006/main">
              <a:ext uri="{FF2B5EF4-FFF2-40B4-BE49-F238E27FC236}">
                <a16:creationId xmlns:a16="http://schemas.microsoft.com/office/drawing/2014/main" id="{1F4CDD42-1644-4803-93B5-8FBE00C0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72440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43.9%</a:t>
            </a:r>
          </a:p>
        </p:txBody>
      </p:sp>
      <p:sp>
        <p:nvSpPr>
          <p:cNvPr id="50" name="Rektangel 49">
            <a:extLst xmlns:a="http://schemas.openxmlformats.org/drawingml/2006/main">
              <a:ext uri="{FF2B5EF4-FFF2-40B4-BE49-F238E27FC236}">
                <a16:creationId xmlns:a16="http://schemas.microsoft.com/office/drawing/2014/main" id="{E6878A17-A332-4DD9-A830-657B993B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863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Rektangel 50">
            <a:extLst xmlns:a="http://schemas.openxmlformats.org/drawingml/2006/main">
              <a:ext uri="{FF2B5EF4-FFF2-40B4-BE49-F238E27FC236}">
                <a16:creationId xmlns:a16="http://schemas.microsoft.com/office/drawing/2014/main" id="{002B87E6-C3E8-4DB5-864E-AAEFAC57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244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2" name="Rektangel 51">
            <a:extLst xmlns:a="http://schemas.openxmlformats.org/drawingml/2006/main">
              <a:ext uri="{FF2B5EF4-FFF2-40B4-BE49-F238E27FC236}">
                <a16:creationId xmlns:a16="http://schemas.microsoft.com/office/drawing/2014/main" id="{D7BC2729-E1AA-407C-A5B7-CFED955E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05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Rektangel 52">
            <a:extLst xmlns:a="http://schemas.openxmlformats.org/drawingml/2006/main">
              <a:ext uri="{FF2B5EF4-FFF2-40B4-BE49-F238E27FC236}">
                <a16:creationId xmlns:a16="http://schemas.microsoft.com/office/drawing/2014/main" id="{B3B12035-86A7-4D44-9FDE-34A831F9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4347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2021</a:t>
            </a:r>
          </a:p>
        </p:txBody>
      </p:sp>
      <p:sp>
        <p:nvSpPr>
          <p:cNvPr id="54" name="Rektangel 53">
            <a:extLst xmlns:a="http://schemas.openxmlformats.org/drawingml/2006/main">
              <a:ext uri="{FF2B5EF4-FFF2-40B4-BE49-F238E27FC236}">
                <a16:creationId xmlns:a16="http://schemas.microsoft.com/office/drawing/2014/main" id="{7885582F-FDA4-4887-837B-C8A2CBC6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9053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Rektangel 54">
            <a:extLst xmlns:a="http://schemas.openxmlformats.org/drawingml/2006/main">
              <a:ext uri="{FF2B5EF4-FFF2-40B4-BE49-F238E27FC236}">
                <a16:creationId xmlns:a16="http://schemas.microsoft.com/office/drawing/2014/main" id="{C6CC11DF-B61F-4416-B836-A7B8EE70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943475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31.8%</a:t>
            </a:r>
          </a:p>
        </p:txBody>
      </p:sp>
      <p:sp>
        <p:nvSpPr>
          <p:cNvPr id="56" name="Rektangel 55">
            <a:extLst xmlns:a="http://schemas.openxmlformats.org/drawingml/2006/main">
              <a:ext uri="{FF2B5EF4-FFF2-40B4-BE49-F238E27FC236}">
                <a16:creationId xmlns:a16="http://schemas.microsoft.com/office/drawing/2014/main" id="{F5AD339E-8F88-4A60-B139-53FB216C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053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Rektangel 56">
            <a:extLst xmlns:a="http://schemas.openxmlformats.org/drawingml/2006/main">
              <a:ext uri="{FF2B5EF4-FFF2-40B4-BE49-F238E27FC236}">
                <a16:creationId xmlns:a16="http://schemas.microsoft.com/office/drawing/2014/main" id="{C2C388B9-AC48-4DB5-A06C-5C6D4BE0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43475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8" name="Rektangel 57">
            <a:extLst xmlns:a="http://schemas.openxmlformats.org/drawingml/2006/main">
              <a:ext uri="{FF2B5EF4-FFF2-40B4-BE49-F238E27FC236}">
                <a16:creationId xmlns:a16="http://schemas.microsoft.com/office/drawing/2014/main" id="{7468B2B9-0BBD-4CF2-AADE-29EBDB51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244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Rektangel 58">
            <a:extLst xmlns:a="http://schemas.openxmlformats.org/drawingml/2006/main">
              <a:ext uri="{FF2B5EF4-FFF2-40B4-BE49-F238E27FC236}">
                <a16:creationId xmlns:a16="http://schemas.microsoft.com/office/drawing/2014/main" id="{19E6D583-45C7-42D6-A2CC-603BE675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16255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2022</a:t>
            </a:r>
          </a:p>
        </p:txBody>
      </p:sp>
      <p:sp>
        <p:nvSpPr>
          <p:cNvPr id="60" name="Rektangel 59">
            <a:extLst xmlns:a="http://schemas.openxmlformats.org/drawingml/2006/main">
              <a:ext uri="{FF2B5EF4-FFF2-40B4-BE49-F238E27FC236}">
                <a16:creationId xmlns:a16="http://schemas.microsoft.com/office/drawing/2014/main" id="{D0E70C0B-653D-4A59-9A6C-8C26911A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1244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Rektangel 60">
            <a:extLst xmlns:a="http://schemas.openxmlformats.org/drawingml/2006/main">
              <a:ext uri="{FF2B5EF4-FFF2-40B4-BE49-F238E27FC236}">
                <a16:creationId xmlns:a16="http://schemas.microsoft.com/office/drawing/2014/main" id="{E3634E75-3430-4A4C-BB99-216C46D6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6255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D64F4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D64F4F"/>
                </a:solidFill>
                <a:latin typeface="Aptos"/>
                <a:ea typeface="Aptos"/>
                <a:cs typeface="Aptos"/>
              </a:rPr>
              <a:t>-27.5%</a:t>
            </a:r>
          </a:p>
        </p:txBody>
      </p:sp>
      <p:sp>
        <p:nvSpPr>
          <p:cNvPr id="62" name="Rektangel 61">
            <a:extLst xmlns:a="http://schemas.openxmlformats.org/drawingml/2006/main">
              <a:ext uri="{FF2B5EF4-FFF2-40B4-BE49-F238E27FC236}">
                <a16:creationId xmlns:a16="http://schemas.microsoft.com/office/drawing/2014/main" id="{89C53C0E-04F7-4BBE-9894-040A7788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244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Rektangel 62">
            <a:extLst xmlns:a="http://schemas.openxmlformats.org/drawingml/2006/main">
              <a:ext uri="{FF2B5EF4-FFF2-40B4-BE49-F238E27FC236}">
                <a16:creationId xmlns:a16="http://schemas.microsoft.com/office/drawing/2014/main" id="{BA45A8E1-057D-4C16-AF7F-088CE79F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625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4" name="Rektangel 63">
            <a:extLst xmlns:a="http://schemas.openxmlformats.org/drawingml/2006/main">
              <a:ext uri="{FF2B5EF4-FFF2-40B4-BE49-F238E27FC236}">
                <a16:creationId xmlns:a16="http://schemas.microsoft.com/office/drawing/2014/main" id="{80218843-85A5-4BE3-8753-FBC74F60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3435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Rektangel 64">
            <a:extLst xmlns:a="http://schemas.openxmlformats.org/drawingml/2006/main">
              <a:ext uri="{FF2B5EF4-FFF2-40B4-BE49-F238E27FC236}">
                <a16:creationId xmlns:a16="http://schemas.microsoft.com/office/drawing/2014/main" id="{5DD9D98E-4C8D-4E54-9E99-FBD5552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38162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2023</a:t>
            </a:r>
          </a:p>
        </p:txBody>
      </p:sp>
      <p:sp>
        <p:nvSpPr>
          <p:cNvPr id="66" name="Rektangel 65">
            <a:extLst xmlns:a="http://schemas.openxmlformats.org/drawingml/2006/main">
              <a:ext uri="{FF2B5EF4-FFF2-40B4-BE49-F238E27FC236}">
                <a16:creationId xmlns:a16="http://schemas.microsoft.com/office/drawing/2014/main" id="{8D6DD6A9-1D43-49C8-9429-A916704A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435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Rektangel 66">
            <a:extLst xmlns:a="http://schemas.openxmlformats.org/drawingml/2006/main">
              <a:ext uri="{FF2B5EF4-FFF2-40B4-BE49-F238E27FC236}">
                <a16:creationId xmlns:a16="http://schemas.microsoft.com/office/drawing/2014/main" id="{53E624A7-0D02-47FB-8641-00F9C9A9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381625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16.5%</a:t>
            </a:r>
          </a:p>
        </p:txBody>
      </p:sp>
      <p:sp>
        <p:nvSpPr>
          <p:cNvPr id="68" name="Rektangel 67">
            <a:extLst xmlns:a="http://schemas.openxmlformats.org/drawingml/2006/main">
              <a:ext uri="{FF2B5EF4-FFF2-40B4-BE49-F238E27FC236}">
                <a16:creationId xmlns:a16="http://schemas.microsoft.com/office/drawing/2014/main" id="{5D7B8634-E9B8-4FD6-B921-36F37675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435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Rektangel 68">
            <a:extLst xmlns:a="http://schemas.openxmlformats.org/drawingml/2006/main">
              <a:ext uri="{FF2B5EF4-FFF2-40B4-BE49-F238E27FC236}">
                <a16:creationId xmlns:a16="http://schemas.microsoft.com/office/drawing/2014/main" id="{000B22E2-2E29-4C68-BE1B-907A3E44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381625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70" name="Rektangel 69">
            <a:extLst xmlns:a="http://schemas.openxmlformats.org/drawingml/2006/main">
              <a:ext uri="{FF2B5EF4-FFF2-40B4-BE49-F238E27FC236}">
                <a16:creationId xmlns:a16="http://schemas.microsoft.com/office/drawing/2014/main" id="{C3E69BFF-77C0-440B-91A7-B1D95E5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5626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Rektangel 70">
            <a:extLst xmlns:a="http://schemas.openxmlformats.org/drawingml/2006/main">
              <a:ext uri="{FF2B5EF4-FFF2-40B4-BE49-F238E27FC236}">
                <a16:creationId xmlns:a16="http://schemas.microsoft.com/office/drawing/2014/main" id="{FC412515-5C9D-49EC-A1BA-D601E4AD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600700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72" name="Rektangel 71">
            <a:extLst xmlns:a="http://schemas.openxmlformats.org/drawingml/2006/main">
              <a:ext uri="{FF2B5EF4-FFF2-40B4-BE49-F238E27FC236}">
                <a16:creationId xmlns:a16="http://schemas.microsoft.com/office/drawing/2014/main" id="{31F86CDC-E028-4B58-87BD-72267014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5626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Rektangel 72">
            <a:extLst xmlns:a="http://schemas.openxmlformats.org/drawingml/2006/main">
              <a:ext uri="{FF2B5EF4-FFF2-40B4-BE49-F238E27FC236}">
                <a16:creationId xmlns:a16="http://schemas.microsoft.com/office/drawing/2014/main" id="{F95FE6CC-5305-4927-91AB-9F2DFDD6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600700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32.9%</a:t>
            </a:r>
          </a:p>
        </p:txBody>
      </p:sp>
      <p:sp>
        <p:nvSpPr>
          <p:cNvPr id="74" name="Rektangel 73">
            <a:extLst xmlns:a="http://schemas.openxmlformats.org/drawingml/2006/main">
              <a:ext uri="{FF2B5EF4-FFF2-40B4-BE49-F238E27FC236}">
                <a16:creationId xmlns:a16="http://schemas.microsoft.com/office/drawing/2014/main" id="{5996E635-5096-4A9A-B34F-3B436D83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626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Rektangel 74">
            <a:extLst xmlns:a="http://schemas.openxmlformats.org/drawingml/2006/main">
              <a:ext uri="{FF2B5EF4-FFF2-40B4-BE49-F238E27FC236}">
                <a16:creationId xmlns:a16="http://schemas.microsoft.com/office/drawing/2014/main" id="{81C9747D-8DC5-4739-BF36-A66CCBB3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6007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6" name="Rektangel 75">
            <a:extLst xmlns:a="http://schemas.openxmlformats.org/drawingml/2006/main">
              <a:ext uri="{FF2B5EF4-FFF2-40B4-BE49-F238E27FC236}">
                <a16:creationId xmlns:a16="http://schemas.microsoft.com/office/drawing/2014/main" id="{96F01C0C-4E87-4207-B26B-6F2557CF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7816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Rektangel 76">
            <a:extLst xmlns:a="http://schemas.openxmlformats.org/drawingml/2006/main">
              <a:ext uri="{FF2B5EF4-FFF2-40B4-BE49-F238E27FC236}">
                <a16:creationId xmlns:a16="http://schemas.microsoft.com/office/drawing/2014/main" id="{0C8B3C6B-53E5-4E94-B86E-8AA7F61D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819775"/>
            <a:ext cx="590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78" name="Rektangel 77">
            <a:extLst xmlns:a="http://schemas.openxmlformats.org/drawingml/2006/main">
              <a:ext uri="{FF2B5EF4-FFF2-40B4-BE49-F238E27FC236}">
                <a16:creationId xmlns:a16="http://schemas.microsoft.com/office/drawing/2014/main" id="{E6D2C1FE-C1BF-419B-9059-C605AE93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816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" name="Rektangel 78">
            <a:extLst xmlns:a="http://schemas.openxmlformats.org/drawingml/2006/main">
              <a:ext uri="{FF2B5EF4-FFF2-40B4-BE49-F238E27FC236}">
                <a16:creationId xmlns:a16="http://schemas.microsoft.com/office/drawing/2014/main" id="{45542990-09AF-455B-8015-C0A7F996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819775"/>
            <a:ext cx="800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7.5%</a:t>
            </a:r>
          </a:p>
        </p:txBody>
      </p:sp>
      <p:sp>
        <p:nvSpPr>
          <p:cNvPr id="80" name="Rektangel 79">
            <a:extLst xmlns:a="http://schemas.openxmlformats.org/drawingml/2006/main">
              <a:ext uri="{FF2B5EF4-FFF2-40B4-BE49-F238E27FC236}">
                <a16:creationId xmlns:a16="http://schemas.microsoft.com/office/drawing/2014/main" id="{9F2FB2FB-7F21-4970-A1DC-203F63E6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81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1" name="Rektangel 80">
            <a:extLst xmlns:a="http://schemas.openxmlformats.org/drawingml/2006/main">
              <a:ext uri="{FF2B5EF4-FFF2-40B4-BE49-F238E27FC236}">
                <a16:creationId xmlns:a16="http://schemas.microsoft.com/office/drawing/2014/main" id="{75971375-F122-480F-830D-339D142E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819775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2" name="Rektangel 81">
            <a:extLst xmlns:a="http://schemas.openxmlformats.org/drawingml/2006/main">
              <a:ext uri="{FF2B5EF4-FFF2-40B4-BE49-F238E27FC236}">
                <a16:creationId xmlns:a16="http://schemas.microsoft.com/office/drawing/2014/main" id="{FA659CF6-B5E7-4EE0-8221-89B89181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The same fixed 200 day SMA rule is used in each test period. The forward test checks if performance remains reasonable outside one single full-history backtest.</a:t>
            </a:r>
          </a:p>
        </p:txBody>
      </p:sp>
      <p:sp>
        <p:nvSpPr>
          <p:cNvPr id="83" name="Rektangel 82">
            <a:extLst xmlns:a="http://schemas.openxmlformats.org/drawingml/2006/main">
              <a:ext uri="{FF2B5EF4-FFF2-40B4-BE49-F238E27FC236}">
                <a16:creationId xmlns:a16="http://schemas.microsoft.com/office/drawing/2014/main" id="{EC633129-4B26-4000-B596-C5B9FC6E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Walk forward setup: 3 years in sample, then 1 year out of sample</a:t>
            </a:r>
          </a:p>
        </p:txBody>
      </p:sp>
    </p:spTree>
    <p:extLst>
      <p:ext uri="{BB962C8B-B14F-4D97-AF65-F5344CB8AC3E}">
        <p14:creationId xmlns:p14="http://schemas.microsoft.com/office/powerpoint/2010/main" val="19318210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ktangel 32">
            <a:extLst xmlns:a="http://schemas.openxmlformats.org/drawingml/2006/main">
              <a:ext uri="{FF2B5EF4-FFF2-40B4-BE49-F238E27FC236}">
                <a16:creationId xmlns:a16="http://schemas.microsoft.com/office/drawing/2014/main" id="{549D9C9B-9455-4459-BDA9-F63AF90C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ktangel 1">
            <a:extLst xmlns:a="http://schemas.openxmlformats.org/drawingml/2006/main">
              <a:ext uri="{FF2B5EF4-FFF2-40B4-BE49-F238E27FC236}">
                <a16:creationId xmlns:a16="http://schemas.microsoft.com/office/drawing/2014/main" id="{C2427B41-93FE-42C8-9B2A-B1304D44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ktangel 2">
            <a:extLst xmlns:a="http://schemas.openxmlformats.org/drawingml/2006/main">
              <a:ext uri="{FF2B5EF4-FFF2-40B4-BE49-F238E27FC236}">
                <a16:creationId xmlns:a16="http://schemas.microsoft.com/office/drawing/2014/main" id="{1EB6CBFE-AF96-458D-B7AC-8A02A1CE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7C0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C0D4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Rektangel 3">
            <a:extLst xmlns:a="http://schemas.openxmlformats.org/drawingml/2006/main">
              <a:ext uri="{FF2B5EF4-FFF2-40B4-BE49-F238E27FC236}">
                <a16:creationId xmlns:a16="http://schemas.microsoft.com/office/drawing/2014/main" id="{3CFD45C6-01F8-487A-8BF4-FCD529F6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strategy appears effective as a demo, but it is not complete</a:t>
            </a:r>
          </a:p>
        </p:txBody>
      </p:sp>
      <p:sp>
        <p:nvSpPr>
          <p:cNvPr id="6" name="Rektangel 5">
            <a:extLst xmlns:a="http://schemas.openxmlformats.org/drawingml/2006/main">
              <a:ext uri="{FF2B5EF4-FFF2-40B4-BE49-F238E27FC236}">
                <a16:creationId xmlns:a16="http://schemas.microsoft.com/office/drawing/2014/main" id="{536D3304-25E8-4A3C-A87C-ABC637C2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D"/>
                </a:solidFill>
                <a:latin typeface="Aptos"/>
                <a:ea typeface="Aptos"/>
                <a:cs typeface="Aptos"/>
              </a:rPr>
              <a:t>The fixed 200 day SMA strategy showed strong historical performance in both the full backtest and walk forward test.</a:t>
            </a:r>
          </a:p>
        </p:txBody>
      </p:sp>
      <p:sp>
        <p:nvSpPr>
          <p:cNvPr id="7" name="Rektangel 6">
            <a:extLst xmlns:a="http://schemas.openxmlformats.org/drawingml/2006/main">
              <a:ext uri="{FF2B5EF4-FFF2-40B4-BE49-F238E27FC236}">
                <a16:creationId xmlns:a16="http://schemas.microsoft.com/office/drawing/2014/main" id="{955FD293-2024-4629-BEDB-D10CC667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2954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ktangel 7">
            <a:extLst xmlns:a="http://schemas.openxmlformats.org/drawingml/2006/main">
              <a:ext uri="{FF2B5EF4-FFF2-40B4-BE49-F238E27FC236}">
                <a16:creationId xmlns:a16="http://schemas.microsoft.com/office/drawing/2014/main" id="{2F7AB348-EA0D-4941-BB8B-096B8D10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4668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543.6%</a:t>
            </a:r>
          </a:p>
        </p:txBody>
      </p:sp>
      <p:sp>
        <p:nvSpPr>
          <p:cNvPr id="9" name="Rektangel 8">
            <a:extLst xmlns:a="http://schemas.openxmlformats.org/drawingml/2006/main">
              <a:ext uri="{FF2B5EF4-FFF2-40B4-BE49-F238E27FC236}">
                <a16:creationId xmlns:a16="http://schemas.microsoft.com/office/drawing/2014/main" id="{88DBCA97-7132-46F1-AD2B-2A373398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7907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Backtest return</a:t>
            </a:r>
          </a:p>
        </p:txBody>
      </p:sp>
      <p:sp>
        <p:nvSpPr>
          <p:cNvPr id="10" name="Rektangel 9">
            <a:extLst xmlns:a="http://schemas.openxmlformats.org/drawingml/2006/main">
              <a:ext uri="{FF2B5EF4-FFF2-40B4-BE49-F238E27FC236}">
                <a16:creationId xmlns:a16="http://schemas.microsoft.com/office/drawing/2014/main" id="{984A5C7B-57CC-413C-8FA5-DFE17F21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2954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ktangel 10">
            <a:extLst xmlns:a="http://schemas.openxmlformats.org/drawingml/2006/main">
              <a:ext uri="{FF2B5EF4-FFF2-40B4-BE49-F238E27FC236}">
                <a16:creationId xmlns:a16="http://schemas.microsoft.com/office/drawing/2014/main" id="{17BC2102-7C69-475A-9B7E-1ECF91BD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4668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378.6%</a:t>
            </a:r>
          </a:p>
        </p:txBody>
      </p:sp>
      <p:sp>
        <p:nvSpPr>
          <p:cNvPr id="12" name="Rektangel 11">
            <a:extLst xmlns:a="http://schemas.openxmlformats.org/drawingml/2006/main">
              <a:ext uri="{FF2B5EF4-FFF2-40B4-BE49-F238E27FC236}">
                <a16:creationId xmlns:a16="http://schemas.microsoft.com/office/drawing/2014/main" id="{6EEE2B29-949F-4488-934D-BDF497D7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7907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Walk forward OOS</a:t>
            </a:r>
          </a:p>
        </p:txBody>
      </p:sp>
      <p:sp>
        <p:nvSpPr>
          <p:cNvPr id="13" name="Rektangel 12">
            <a:extLst xmlns:a="http://schemas.openxmlformats.org/drawingml/2006/main">
              <a:ext uri="{FF2B5EF4-FFF2-40B4-BE49-F238E27FC236}">
                <a16:creationId xmlns:a16="http://schemas.microsoft.com/office/drawing/2014/main" id="{E9B40626-39A9-412E-B0CE-B7CB2EA9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295400"/>
            <a:ext cx="114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ktangel 13">
            <a:extLst xmlns:a="http://schemas.openxmlformats.org/drawingml/2006/main">
              <a:ext uri="{FF2B5EF4-FFF2-40B4-BE49-F238E27FC236}">
                <a16:creationId xmlns:a16="http://schemas.microsoft.com/office/drawing/2014/main" id="{97867D90-7B06-4DEC-9421-3930983C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46685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E57C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E57C2"/>
                </a:solidFill>
                <a:latin typeface="Aptos"/>
                <a:ea typeface="Aptos"/>
                <a:cs typeface="Aptos"/>
              </a:rPr>
              <a:t>200 day</a:t>
            </a:r>
          </a:p>
        </p:txBody>
      </p:sp>
      <p:sp>
        <p:nvSpPr>
          <p:cNvPr id="15" name="Rektangel 14">
            <a:extLst xmlns:a="http://schemas.openxmlformats.org/drawingml/2006/main">
              <a:ext uri="{FF2B5EF4-FFF2-40B4-BE49-F238E27FC236}">
                <a16:creationId xmlns:a16="http://schemas.microsoft.com/office/drawing/2014/main" id="{E8ADC63A-D8DB-4B46-84D5-2FCB8018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7907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Fixed SMA</a:t>
            </a:r>
          </a:p>
        </p:txBody>
      </p:sp>
      <p:sp>
        <p:nvSpPr>
          <p:cNvPr id="16" name="Rektangel 15">
            <a:extLst xmlns:a="http://schemas.openxmlformats.org/drawingml/2006/main">
              <a:ext uri="{FF2B5EF4-FFF2-40B4-BE49-F238E27FC236}">
                <a16:creationId xmlns:a16="http://schemas.microsoft.com/office/drawing/2014/main" id="{586EEEE2-6CEC-4167-998F-B1BA1E4F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64F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4F4F"/>
                </a:solidFill>
                <a:latin typeface="Aptos"/>
                <a:ea typeface="Aptos"/>
                <a:cs typeface="Aptos"/>
              </a:rPr>
              <a:t>Still missing</a:t>
            </a:r>
          </a:p>
        </p:txBody>
      </p:sp>
      <p:sp>
        <p:nvSpPr>
          <p:cNvPr id="17" name="Rektangel 16">
            <a:extLst xmlns:a="http://schemas.openxmlformats.org/drawingml/2006/main">
              <a:ext uri="{FF2B5EF4-FFF2-40B4-BE49-F238E27FC236}">
                <a16:creationId xmlns:a16="http://schemas.microsoft.com/office/drawing/2014/main" id="{297BCD8A-28F1-45AA-9D0A-A2FE4A13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67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ktangel 17">
            <a:extLst xmlns:a="http://schemas.openxmlformats.org/drawingml/2006/main">
              <a:ext uri="{FF2B5EF4-FFF2-40B4-BE49-F238E27FC236}">
                <a16:creationId xmlns:a16="http://schemas.microsoft.com/office/drawing/2014/main" id="{E235F90D-A9EA-4955-A416-1024DC7E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Risk management such as stop loss, position sizing, and max drawdown limits.</a:t>
            </a:r>
          </a:p>
        </p:txBody>
      </p:sp>
      <p:sp>
        <p:nvSpPr>
          <p:cNvPr id="19" name="Rektangel 18">
            <a:extLst xmlns:a="http://schemas.openxmlformats.org/drawingml/2006/main">
              <a:ext uri="{FF2B5EF4-FFF2-40B4-BE49-F238E27FC236}">
                <a16:creationId xmlns:a16="http://schemas.microsoft.com/office/drawing/2014/main" id="{E87620CB-1729-49E6-B348-7283843B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38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ktangel 19">
            <a:extLst xmlns:a="http://schemas.openxmlformats.org/drawingml/2006/main">
              <a:ext uri="{FF2B5EF4-FFF2-40B4-BE49-F238E27FC236}">
                <a16:creationId xmlns:a16="http://schemas.microsoft.com/office/drawing/2014/main" id="{A352FF60-9A06-41AF-85A5-B662817E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More complete transaction cost modelling, including spread and slippage.</a:t>
            </a:r>
          </a:p>
        </p:txBody>
      </p:sp>
      <p:sp>
        <p:nvSpPr>
          <p:cNvPr id="21" name="Rektangel 20">
            <a:extLst xmlns:a="http://schemas.openxmlformats.org/drawingml/2006/main">
              <a:ext uri="{FF2B5EF4-FFF2-40B4-BE49-F238E27FC236}">
                <a16:creationId xmlns:a16="http://schemas.microsoft.com/office/drawing/2014/main" id="{1E117825-CCFE-41C0-BB11-5CF3609C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0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ktangel 21">
            <a:extLst xmlns:a="http://schemas.openxmlformats.org/drawingml/2006/main">
              <a:ext uri="{FF2B5EF4-FFF2-40B4-BE49-F238E27FC236}">
                <a16:creationId xmlns:a16="http://schemas.microsoft.com/office/drawing/2014/main" id="{2AB5CB87-85FB-4C75-A066-D48B91BC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Parameter optimization and more robust validation across more stocks.</a:t>
            </a:r>
          </a:p>
        </p:txBody>
      </p:sp>
      <p:sp>
        <p:nvSpPr>
          <p:cNvPr id="23" name="Rektangel 22">
            <a:extLst xmlns:a="http://schemas.openxmlformats.org/drawingml/2006/main">
              <a:ext uri="{FF2B5EF4-FFF2-40B4-BE49-F238E27FC236}">
                <a16:creationId xmlns:a16="http://schemas.microsoft.com/office/drawing/2014/main" id="{CE2EE315-C7B4-46B4-A6F1-C28ACBC4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E57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E57C2"/>
                </a:solidFill>
                <a:latin typeface="Aptos"/>
                <a:ea typeface="Aptos"/>
                <a:cs typeface="Aptos"/>
              </a:rPr>
              <a:t>Future improvements</a:t>
            </a:r>
          </a:p>
        </p:txBody>
      </p:sp>
      <p:sp>
        <p:nvSpPr>
          <p:cNvPr id="24" name="Rektangel 23">
            <a:extLst xmlns:a="http://schemas.openxmlformats.org/drawingml/2006/main">
              <a:ext uri="{FF2B5EF4-FFF2-40B4-BE49-F238E27FC236}">
                <a16:creationId xmlns:a16="http://schemas.microsoft.com/office/drawing/2014/main" id="{159939E0-E224-4BBE-8373-CD261B74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67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ktangel 24">
            <a:extLst xmlns:a="http://schemas.openxmlformats.org/drawingml/2006/main">
              <a:ext uri="{FF2B5EF4-FFF2-40B4-BE49-F238E27FC236}">
                <a16:creationId xmlns:a16="http://schemas.microsoft.com/office/drawing/2014/main" id="{23BF9E46-48BF-44CF-A5DE-1C1EB37D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Test the same rule on several stocks and market regimes.</a:t>
            </a:r>
          </a:p>
        </p:txBody>
      </p:sp>
      <p:sp>
        <p:nvSpPr>
          <p:cNvPr id="26" name="Rektangel 25">
            <a:extLst xmlns:a="http://schemas.openxmlformats.org/drawingml/2006/main">
              <a:ext uri="{FF2B5EF4-FFF2-40B4-BE49-F238E27FC236}">
                <a16:creationId xmlns:a16="http://schemas.microsoft.com/office/drawing/2014/main" id="{F381610E-0E06-482A-8DA1-E66E7515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38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ktangel 26">
            <a:extLst xmlns:a="http://schemas.openxmlformats.org/drawingml/2006/main">
              <a:ext uri="{FF2B5EF4-FFF2-40B4-BE49-F238E27FC236}">
                <a16:creationId xmlns:a16="http://schemas.microsoft.com/office/drawing/2014/main" id="{090A4D30-EE01-4A20-9AA2-35BF9DFD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Add risk controls and compare risk adjusted performance.</a:t>
            </a:r>
          </a:p>
        </p:txBody>
      </p:sp>
      <p:sp>
        <p:nvSpPr>
          <p:cNvPr id="28" name="Rektangel 27">
            <a:extLst xmlns:a="http://schemas.openxmlformats.org/drawingml/2006/main">
              <a:ext uri="{FF2B5EF4-FFF2-40B4-BE49-F238E27FC236}">
                <a16:creationId xmlns:a16="http://schemas.microsoft.com/office/drawing/2014/main" id="{DFCAA2BF-5AAA-46F1-B8E6-65A23899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ktangel 28">
            <a:extLst xmlns:a="http://schemas.openxmlformats.org/drawingml/2006/main">
              <a:ext uri="{FF2B5EF4-FFF2-40B4-BE49-F238E27FC236}">
                <a16:creationId xmlns:a16="http://schemas.microsoft.com/office/drawing/2014/main" id="{9854D3C3-C763-4F6C-B1DD-8258142E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33D"/>
                </a:solidFill>
                <a:latin typeface="Aptos"/>
                <a:ea typeface="Aptos"/>
                <a:cs typeface="Aptos"/>
              </a:rPr>
              <a:t>Run paper trading before considering any live use.</a:t>
            </a:r>
          </a:p>
        </p:txBody>
      </p:sp>
      <p:sp>
        <p:nvSpPr>
          <p:cNvPr id="30" name="Rektangel 29">
            <a:extLst xmlns:a="http://schemas.openxmlformats.org/drawingml/2006/main">
              <a:ext uri="{FF2B5EF4-FFF2-40B4-BE49-F238E27FC236}">
                <a16:creationId xmlns:a16="http://schemas.microsoft.com/office/drawing/2014/main" id="{F1C82B9D-E6D5-4BAF-AD25-A591C09C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ktangel 30">
            <a:extLst xmlns:a="http://schemas.openxmlformats.org/drawingml/2006/main">
              <a:ext uri="{FF2B5EF4-FFF2-40B4-BE49-F238E27FC236}">
                <a16:creationId xmlns:a16="http://schemas.microsoft.com/office/drawing/2014/main" id="{51B70116-BF36-41D0-B68F-42F0BCAF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1019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3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33D"/>
                </a:solidFill>
                <a:latin typeface="Aptos"/>
                <a:ea typeface="Aptos"/>
                <a:cs typeface="Aptos"/>
              </a:rPr>
              <a:t>Bottom line: good demo results, but not enough for real trading decisions without stronger controls and validation.</a:t>
            </a:r>
          </a:p>
        </p:txBody>
      </p:sp>
      <p:sp>
        <p:nvSpPr>
          <p:cNvPr id="32" name="Rektangel 31">
            <a:extLst xmlns:a="http://schemas.openxmlformats.org/drawingml/2006/main">
              <a:ext uri="{FF2B5EF4-FFF2-40B4-BE49-F238E27FC236}">
                <a16:creationId xmlns:a16="http://schemas.microsoft.com/office/drawing/2014/main" id="{20BF1C34-5E18-4A4B-958A-BCA0192B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This project is for research and demonstration only. It is not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494664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2026-06-08T16:07:01.4660000Z</dcterms:created>
  <dcterms:modified xsi:type="dcterms:W3CDTF">2026-06-08T16:07:01.4660000Z</dcterms:modified>
</coreProperties>
</file>